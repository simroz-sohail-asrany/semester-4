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17"/>
  </p:notesMasterIdLst>
  <p:handoutMasterIdLst>
    <p:handoutMasterId r:id="rId18"/>
  </p:handoutMasterIdLst>
  <p:sldIdLst>
    <p:sldId id="630" r:id="rId2"/>
    <p:sldId id="358" r:id="rId3"/>
    <p:sldId id="359" r:id="rId4"/>
    <p:sldId id="360" r:id="rId5"/>
    <p:sldId id="361" r:id="rId6"/>
    <p:sldId id="634" r:id="rId7"/>
    <p:sldId id="631" r:id="rId8"/>
    <p:sldId id="632" r:id="rId9"/>
    <p:sldId id="363" r:id="rId10"/>
    <p:sldId id="364" r:id="rId11"/>
    <p:sldId id="635" r:id="rId12"/>
    <p:sldId id="636" r:id="rId13"/>
    <p:sldId id="451" r:id="rId14"/>
    <p:sldId id="367" r:id="rId15"/>
    <p:sldId id="633" r:id="rId16"/>
  </p:sldIdLst>
  <p:sldSz cx="9144000" cy="6858000" type="screen4x3"/>
  <p:notesSz cx="7102475" cy="93884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006699"/>
    <a:srgbClr val="336699"/>
    <a:srgbClr val="CC6600"/>
    <a:srgbClr val="993300"/>
    <a:srgbClr val="FF0000"/>
    <a:srgbClr val="CCECFF"/>
    <a:srgbClr val="66CCFF"/>
    <a:srgbClr val="CCFF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54"/>
  </p:normalViewPr>
  <p:slideViewPr>
    <p:cSldViewPr snapToGrid="0">
      <p:cViewPr varScale="1">
        <p:scale>
          <a:sx n="108" d="100"/>
          <a:sy n="108" d="100"/>
        </p:scale>
        <p:origin x="1664" y="20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806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9BB9D20-1A90-4A9F-AC31-CAE3CC12B0C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3766" cy="44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250" tIns="44626" rIns="89250" bIns="44626" numCol="1" anchor="ctr" anchorCtr="0" compatLnSpc="1">
            <a:prstTxWarp prst="textNoShape">
              <a:avLst/>
            </a:prstTxWarp>
          </a:bodyPr>
          <a:lstStyle>
            <a:lvl1pPr defTabSz="892536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4296A01-89DA-4C44-BA5C-CEB7EB69E05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03185" y="0"/>
            <a:ext cx="3112157" cy="44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250" tIns="44626" rIns="89250" bIns="44626" numCol="1" anchor="ctr" anchorCtr="0" compatLnSpc="1">
            <a:prstTxWarp prst="textNoShape">
              <a:avLst/>
            </a:prstTxWarp>
          </a:bodyPr>
          <a:lstStyle>
            <a:lvl1pPr algn="r" defTabSz="892536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3CF4E157-594E-4AE6-92E3-BEB09A7772D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54002"/>
            <a:ext cx="3113766" cy="447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250" tIns="44626" rIns="89250" bIns="44626" numCol="1" anchor="b" anchorCtr="0" compatLnSpc="1">
            <a:prstTxWarp prst="textNoShape">
              <a:avLst/>
            </a:prstTxWarp>
          </a:bodyPr>
          <a:lstStyle>
            <a:lvl1pPr defTabSz="892536">
              <a:defRPr sz="1100">
                <a:latin typeface="Helvetica" panose="020B0604020202020204" pitchFamily="34" charset="0"/>
              </a:defRPr>
            </a:lvl1pPr>
          </a:lstStyle>
          <a:p>
            <a:endParaRPr lang="en-US" alt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E2E27B97-18A3-4634-BA57-DE82D332581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03185" y="8954002"/>
            <a:ext cx="3112157" cy="447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250" tIns="44626" rIns="89250" bIns="44626" numCol="1" anchor="b" anchorCtr="0" compatLnSpc="1">
            <a:prstTxWarp prst="textNoShape">
              <a:avLst/>
            </a:prstTxWarp>
          </a:bodyPr>
          <a:lstStyle>
            <a:lvl1pPr algn="r" defTabSz="892536">
              <a:defRPr sz="1100">
                <a:latin typeface="Helvetica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91B1BB8-F100-428B-8F73-BD7D453417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D11CEAF-4ACE-425B-9299-B448630D79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775" cy="468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203" tIns="47102" rIns="94203" bIns="47102" numCol="1" anchor="ctr" anchorCtr="0" compatLnSpc="1">
            <a:prstTxWarp prst="textNoShape">
              <a:avLst/>
            </a:prstTxWarp>
          </a:bodyPr>
          <a:lstStyle>
            <a:lvl1pPr defTabSz="940694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D4B00DE-F358-4549-B75C-012C98E4231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5702" y="0"/>
            <a:ext cx="3076774" cy="468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203" tIns="47102" rIns="94203" bIns="47102" numCol="1" anchor="ctr" anchorCtr="0" compatLnSpc="1">
            <a:prstTxWarp prst="textNoShape">
              <a:avLst/>
            </a:prstTxWarp>
          </a:bodyPr>
          <a:lstStyle>
            <a:lvl1pPr algn="r" defTabSz="940694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14FE0F0-1774-492C-8406-AF15195F929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4913" y="704850"/>
            <a:ext cx="4694237" cy="35210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A7FA788-195B-4044-BEB0-4CFF18BC4A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460167"/>
            <a:ext cx="5207838" cy="4222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203" tIns="47102" rIns="94203" bIns="4710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F7E00ECD-7CEA-44E6-96BC-1C7D77F329E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0334"/>
            <a:ext cx="3076775" cy="468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203" tIns="47102" rIns="94203" bIns="47102" numCol="1" anchor="b" anchorCtr="0" compatLnSpc="1">
            <a:prstTxWarp prst="textNoShape">
              <a:avLst/>
            </a:prstTxWarp>
          </a:bodyPr>
          <a:lstStyle>
            <a:lvl1pPr defTabSz="940694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C1C60DC8-8CE3-4439-A7A8-7E7948200B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702" y="8920334"/>
            <a:ext cx="3076774" cy="468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203" tIns="47102" rIns="94203" bIns="47102" numCol="1" anchor="b" anchorCtr="0" compatLnSpc="1">
            <a:prstTxWarp prst="textNoShape">
              <a:avLst/>
            </a:prstTxWarp>
          </a:bodyPr>
          <a:lstStyle>
            <a:lvl1pPr algn="r" defTabSz="940694">
              <a:defRPr sz="1200"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50E8F071-5978-475C-87F0-5ED336049D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5886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4571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805A76C5-F4C2-4CDA-BEF0-83C1B0843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E3CA1B-BF1D-4627-BFE0-E36D1A7C18AA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1DDD850-CCC7-49E3-BE4A-0B1C37B48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38181F9-B100-4204-B5BD-A3889A861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49A2025-556A-439D-B416-B393448D1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8B8218-B419-4C46-9B31-7C5CA16C0958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097CAA5-5009-40F9-948A-088E43827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2A2029-71A1-427A-9D55-052D9150B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B422F43B-7A17-4E70-9902-B75D2AD874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3AE300-16A7-43AF-AE1F-1DE14735F1C6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64F304B6-B49F-4C63-9E77-58BDCDE54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0C8F3D9-B786-431D-AD5A-29215D79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38769F49-5E48-4F61-A820-D92DE4D09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D748A9-A869-41DD-902B-3C31EC6B06E1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514B7CE5-FF07-4CF4-8A99-176990BB0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1215128-6CC2-485F-8CCE-6F4FEFACE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2B454191-C00D-4881-8CC3-145741C18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868E1-D052-4404-8916-164E1D0D0B49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207D3C19-C6DC-4AF4-97F2-A512D0071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7534874-A7D8-4E15-AAAD-8916ECED8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44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567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50B0E92-D303-4BB0-A4D8-C84931373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A8A344-8948-476E-AFBC-AE7944A55FD0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D2136EB-8912-4394-B77C-6B86DF5CA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1F5DAD-71C2-48AE-88DA-58F7B2FAE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4B4CDFE-17FF-4FEE-B58E-763B8E6ABD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FD57D9-9ACF-4A83-A909-F49ABBD723C3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ED68831C-2F81-44B4-9958-1F9967551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8370FE4-983D-4F1E-AFFB-EB46F1255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EF30C6CA-0F10-4E2E-ADBB-88AAB3EE5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9972C-A281-4ED9-A13B-A6C6E2D45CB3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3679CC6-842E-4CC5-B72C-F6CA84D12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78DDD2C-05BB-4045-8228-45C12D640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3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31EF95C2-30F5-4674-B550-61EA8B43C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CA2DBE-B6D1-4FB7-B4F4-1496EA4F2FD3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63B1BE69-F2AE-4073-AD7F-EC55BF74D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0DDF634-7FF2-4300-8F34-0D079A7CE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1E2106FC-965F-4B36-95C9-85F38CB1D2AF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4F76597-B8F6-4CEA-9EE6-C249E66FF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B609497D-9258-4404-AC76-F9D00A7E1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A64FF4F3-FEAA-4C95-83DF-7C221470B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02A0DD47-8F7F-4A95-AE64-CA99D29DE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9ECA44C-B65E-4D58-AF71-9A21542DE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DC93971E-88EA-49BD-8B99-29D435F56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455C5716-1072-48FA-8BE4-518F8A1BA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98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2794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9208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9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079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8882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596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606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5916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63623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705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81397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0B010E09-45F7-4439-9097-56E2E86F0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79327FA-57D7-4967-BC36-A4ACCFBBD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ED111BB-DF84-4F58-B786-823E8FDBA4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85C16BD-7326-4520-8A0D-21DEA40BC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4FEECE86-85D6-4503-8E41-BA3D1D29C5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35" tIns="45718" rIns="91435" bIns="45718"/>
          <a:lstStyle/>
          <a:p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A8AF8B84-EECE-43B8-82D5-89568A3D0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8BC53B9-C98D-42F0-A4EA-7A43ACEE4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 dirty="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31F5A16B-4537-4ED4-AD9B-027F3994B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6.</a:t>
            </a:r>
            <a:fld id="{B911E7D7-D784-4B10-991E-22AC2D897065}" type="slidenum">
              <a:rPr lang="en-US" altLang="en-US" sz="1000" b="1" smtClean="0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C040EDE6-C40A-4ECD-9AD5-39D889268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85F01FE-DCF0-4E11-AA32-AAECD1961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798F458D-E4DA-455D-AF0E-E0D8E77E1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50" r:id="rId1"/>
    <p:sldLayoutId id="2147484340" r:id="rId2"/>
    <p:sldLayoutId id="2147484341" r:id="rId3"/>
    <p:sldLayoutId id="2147484342" r:id="rId4"/>
    <p:sldLayoutId id="2147484343" r:id="rId5"/>
    <p:sldLayoutId id="2147484344" r:id="rId6"/>
    <p:sldLayoutId id="2147484345" r:id="rId7"/>
    <p:sldLayoutId id="2147484346" r:id="rId8"/>
    <p:sldLayoutId id="2147484347" r:id="rId9"/>
    <p:sldLayoutId id="2147484348" r:id="rId10"/>
    <p:sldLayoutId id="21474843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2C98928-F25B-4EBA-968A-F43A0AFE86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8038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7:  Synchronization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3AB92419-2F3E-4AB1-BD3A-358F1F8CF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0720" y="180555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Classical Problems of Synchronization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D48FBE90-0458-4057-B57E-DA63D17D9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6449" y="1131891"/>
            <a:ext cx="7957541" cy="4441596"/>
          </a:xfrm>
        </p:spPr>
        <p:txBody>
          <a:bodyPr/>
          <a:lstStyle/>
          <a:p>
            <a:r>
              <a:rPr lang="en-US" altLang="en-US" dirty="0"/>
              <a:t>Classical problems used to test newly-proposed synchronization schemes</a:t>
            </a:r>
          </a:p>
          <a:p>
            <a:pPr lvl="1"/>
            <a:r>
              <a:rPr lang="en-US" altLang="en-US" dirty="0"/>
              <a:t>Bounded-Buffer Problem</a:t>
            </a:r>
          </a:p>
          <a:p>
            <a:pPr lvl="1"/>
            <a:r>
              <a:rPr lang="en-US" altLang="en-US" dirty="0"/>
              <a:t>Readers and Writers Problem</a:t>
            </a:r>
          </a:p>
          <a:p>
            <a:pPr lvl="1"/>
            <a:r>
              <a:rPr lang="en-US" altLang="en-US" dirty="0"/>
              <a:t>Dining-Philosophers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445FFABD-D0ED-4BD7-90B8-096D05870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731" y="277813"/>
            <a:ext cx="776306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Bounded-Buffer Problem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D956C55F-640F-4784-8984-36E14C723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9083" y="1293813"/>
            <a:ext cx="7210425" cy="3725862"/>
          </a:xfrm>
        </p:spPr>
        <p:txBody>
          <a:bodyPr/>
          <a:lstStyle/>
          <a:p>
            <a:r>
              <a:rPr lang="en-US" altLang="en-US" sz="2000" b="1" i="1" dirty="0"/>
              <a:t>n</a:t>
            </a:r>
            <a:r>
              <a:rPr lang="en-US" altLang="en-US" dirty="0"/>
              <a:t> buffers, each can hold one item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i</a:t>
            </a:r>
            <a:r>
              <a:rPr lang="en-US" altLang="en-US" dirty="0"/>
              <a:t>nitialized to the value 1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initialized </a:t>
            </a:r>
            <a:r>
              <a:rPr lang="en-US" altLang="en-US" dirty="0"/>
              <a:t>to the value 0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</a:p>
          <a:p>
            <a:endParaRPr lang="en-US" altLang="en-US" dirty="0"/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91998508-D538-4C89-AD83-931DA05A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2375" y="324643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FAD360A-E679-4DC4-99D8-0FFD8BCED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1250" y="222868"/>
            <a:ext cx="7575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C2887F7A-B34E-4133-B1D8-7BCD1F232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24" y="1279525"/>
            <a:ext cx="7932576" cy="4876800"/>
          </a:xfrm>
        </p:spPr>
        <p:txBody>
          <a:bodyPr/>
          <a:lstStyle/>
          <a:p>
            <a:r>
              <a:rPr lang="en-US" altLang="en-US" dirty="0"/>
              <a:t>The structure of the producer process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b="1" dirty="0">
                <a:latin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add next produced to the buffer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61A0BAA-76CB-484A-B14F-F0AF8A70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5175" y="222868"/>
            <a:ext cx="7156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F1ED0C8-1F57-420E-ADCE-1E7B94E90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788" y="1152525"/>
            <a:ext cx="8156294" cy="4851587"/>
          </a:xfrm>
        </p:spPr>
        <p:txBody>
          <a:bodyPr/>
          <a:lstStyle/>
          <a:p>
            <a:r>
              <a:rPr lang="en-US" altLang="en-US" dirty="0"/>
              <a:t>The structure of the consumer process</a:t>
            </a:r>
          </a:p>
          <a:p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/* remove an item from buffer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/* consume the item in next consumed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58918EB9-9389-A76F-0797-CDEDBB90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3853"/>
            <a:ext cx="8229600" cy="576262"/>
          </a:xfrm>
        </p:spPr>
        <p:txBody>
          <a:bodyPr/>
          <a:lstStyle/>
          <a:p>
            <a:r>
              <a:rPr lang="en-US" altLang="en-US" dirty="0"/>
              <a:t>Bounded-Buffer Problem</a:t>
            </a:r>
            <a:endParaRPr lang="en-US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40AD7C3-CBD8-6190-B9A9-7AAACA503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450" y="1315705"/>
            <a:ext cx="7727950" cy="4366291"/>
          </a:xfrm>
          <a:noFill/>
        </p:spPr>
      </p:pic>
    </p:spTree>
    <p:extLst>
      <p:ext uri="{BB962C8B-B14F-4D97-AF65-F5344CB8AC3E}">
        <p14:creationId xmlns:p14="http://schemas.microsoft.com/office/powerpoint/2010/main" val="46895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0812" y="230028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A data set is shared among a number of concurrent processes</a:t>
            </a:r>
          </a:p>
          <a:p>
            <a:pPr lvl="1"/>
            <a:r>
              <a:rPr lang="en-US" altLang="en-US" b="1" dirty="0"/>
              <a:t>Readers</a:t>
            </a:r>
            <a:r>
              <a:rPr lang="en-US" altLang="en-US" dirty="0"/>
              <a:t> – only read the data set; they do </a:t>
            </a:r>
            <a:r>
              <a:rPr lang="en-US" altLang="en-US" b="1" i="1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perform any updates</a:t>
            </a:r>
          </a:p>
          <a:p>
            <a:pPr lvl="1"/>
            <a:r>
              <a:rPr lang="en-US" altLang="en-US" b="1" dirty="0"/>
              <a:t>Writers</a:t>
            </a:r>
            <a:r>
              <a:rPr lang="en-US" altLang="en-US" dirty="0"/>
              <a:t>   – can both read and write</a:t>
            </a:r>
          </a:p>
          <a:p>
            <a:r>
              <a:rPr lang="en-US" altLang="en-US" dirty="0"/>
              <a:t>Problem – allow multiple readers to read at the same time</a:t>
            </a:r>
          </a:p>
          <a:p>
            <a:pPr lvl="1"/>
            <a:r>
              <a:rPr lang="en-US" altLang="en-US" dirty="0"/>
              <a:t>Only one single writer can access the shared data at the same time</a:t>
            </a:r>
          </a:p>
          <a:p>
            <a:r>
              <a:rPr lang="en-US" altLang="en-US" dirty="0"/>
              <a:t>Several variations of how readers and writers are considered  – all involve some form of priorities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6921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328" y="169512"/>
            <a:ext cx="756602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0425" y="1111250"/>
            <a:ext cx="7639763" cy="5005388"/>
          </a:xfrm>
        </p:spPr>
        <p:txBody>
          <a:bodyPr/>
          <a:lstStyle/>
          <a:p>
            <a:r>
              <a:rPr lang="en-US" altLang="en-US" dirty="0"/>
              <a:t>Shared Data</a:t>
            </a:r>
          </a:p>
          <a:p>
            <a:pPr lvl="1"/>
            <a:r>
              <a:rPr lang="en-US" altLang="en-US" dirty="0"/>
              <a:t>Data set</a:t>
            </a:r>
          </a:p>
          <a:p>
            <a:pPr lvl="1"/>
            <a:r>
              <a:rPr lang="en-US" altLang="en-US" dirty="0"/>
              <a:t>Semaphore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Integer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dirty="0"/>
              <a:t> initialized to 0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88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7DDAEEDB-CB95-4A25-8454-9889DA57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5525" y="227824"/>
            <a:ext cx="76612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D5CD744B-6617-4A23-86E8-A0935A7F9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279525"/>
            <a:ext cx="7848600" cy="4876800"/>
          </a:xfrm>
        </p:spPr>
        <p:txBody>
          <a:bodyPr/>
          <a:lstStyle/>
          <a:p>
            <a:r>
              <a:rPr lang="en-US" altLang="en-US" dirty="0"/>
              <a:t>The structure of a writer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while (true) {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wait(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/* writing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signal(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A3055BE-7D2A-422C-A590-55C99535B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5050" y="227824"/>
            <a:ext cx="765175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02CB5B1-7086-4461-8E47-670C4EA549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2715" y="1318921"/>
            <a:ext cx="7747000" cy="50657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The structure of a reader process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while (true){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	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++;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1) /* first reader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   	     wait(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/* reading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--;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0) /* last reader */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	signal(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}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A568-4A54-23D4-DCE2-1628E827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Readers-Writers Problem (Cont.)</a:t>
            </a:r>
            <a:endParaRPr lang="en-US" dirty="0"/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8B4142D-C9D0-F615-A37D-915310705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450" y="1320348"/>
            <a:ext cx="7727950" cy="4357004"/>
          </a:xfrm>
        </p:spPr>
      </p:pic>
    </p:spTree>
    <p:extLst>
      <p:ext uri="{BB962C8B-B14F-4D97-AF65-F5344CB8AC3E}">
        <p14:creationId xmlns:p14="http://schemas.microsoft.com/office/powerpoint/2010/main" val="1789747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843A8DA-6E91-5AF3-5449-AF707479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3853"/>
            <a:ext cx="8229600" cy="576262"/>
          </a:xfrm>
        </p:spPr>
        <p:txBody>
          <a:bodyPr/>
          <a:lstStyle/>
          <a:p>
            <a:r>
              <a:rPr lang="en-US" altLang="en-US" dirty="0"/>
              <a:t>Readers-Writers Problem (Cont.)</a:t>
            </a:r>
            <a:endParaRPr lang="en-US" dirty="0"/>
          </a:p>
        </p:txBody>
      </p:sp>
      <p:pic>
        <p:nvPicPr>
          <p:cNvPr id="5" name="Content Placeholder 4" descr="A computer code with text&#10;&#10;Description automatically generated">
            <a:extLst>
              <a:ext uri="{FF2B5EF4-FFF2-40B4-BE49-F238E27FC236}">
                <a16:creationId xmlns:a16="http://schemas.microsoft.com/office/drawing/2014/main" id="{8A14B87E-DAC1-A458-E5E9-005146FAC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450" y="1344684"/>
            <a:ext cx="7727950" cy="4308332"/>
          </a:xfrm>
          <a:noFill/>
        </p:spPr>
      </p:pic>
    </p:spTree>
    <p:extLst>
      <p:ext uri="{BB962C8B-B14F-4D97-AF65-F5344CB8AC3E}">
        <p14:creationId xmlns:p14="http://schemas.microsoft.com/office/powerpoint/2010/main" val="1700076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EE9EBAB-3EEB-4813-BC45-A296B378D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6000" y="222286"/>
            <a:ext cx="76708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Dining-Philosophers Problem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FB49ECF8-D29D-47B1-ACEF-3FF6F95DA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7746" y="1057896"/>
            <a:ext cx="7819053" cy="5060516"/>
          </a:xfrm>
        </p:spPr>
        <p:txBody>
          <a:bodyPr/>
          <a:lstStyle/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N philosophers’ sit at a round table with a bowel of rice in the middle.</a:t>
            </a:r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spend their lives alternating thinking and eating.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They do not </a:t>
            </a:r>
            <a:r>
              <a:rPr lang="en-US" altLang="ja-JP" dirty="0"/>
              <a:t> interact with their neighbors.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ja-JP" dirty="0"/>
              <a:t>Occasionally try to pick up 2 chopsticks (one at a time) to eat from bowl</a:t>
            </a:r>
          </a:p>
          <a:p>
            <a:pPr lvl="1">
              <a:tabLst>
                <a:tab pos="1365250" algn="l"/>
                <a:tab pos="1538288" algn="l"/>
              </a:tabLst>
            </a:pPr>
            <a:r>
              <a:rPr lang="en-US" altLang="en-US" dirty="0"/>
              <a:t>Need both to eat, then release both when done</a:t>
            </a:r>
          </a:p>
          <a:p>
            <a:pPr>
              <a:tabLst>
                <a:tab pos="1365250" algn="l"/>
                <a:tab pos="1538288" algn="l"/>
              </a:tabLst>
            </a:pPr>
            <a:r>
              <a:rPr lang="en-US" altLang="en-US" dirty="0"/>
              <a:t>In the case of 5 philosophers, the shared data 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Bowl of rice (data set)</a:t>
            </a:r>
          </a:p>
          <a:p>
            <a:pPr lvl="2">
              <a:tabLst>
                <a:tab pos="1365250" algn="l"/>
                <a:tab pos="1538288" algn="l"/>
              </a:tabLst>
            </a:pPr>
            <a:r>
              <a:rPr lang="en-US" altLang="en-US" dirty="0"/>
              <a:t>Semaphore chopstick [5] initialized to 1</a:t>
            </a:r>
          </a:p>
        </p:txBody>
      </p:sp>
      <p:pic>
        <p:nvPicPr>
          <p:cNvPr id="24579" name="Picture 1">
            <a:extLst>
              <a:ext uri="{FF2B5EF4-FFF2-40B4-BE49-F238E27FC236}">
                <a16:creationId xmlns:a16="http://schemas.microsoft.com/office/drawing/2014/main" id="{3372D57C-AA90-40E5-88DD-A9DB78AAF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794" y="1561607"/>
            <a:ext cx="1532031" cy="14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84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8B6BD45A-1C98-4906-8ECF-377709FEA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2994" y="180175"/>
            <a:ext cx="7866063" cy="576263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  Dining-Philosophers Problem Algorithm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07043318-65A3-4679-85CB-4872EC4E8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7088" y="1119188"/>
            <a:ext cx="7107237" cy="4784725"/>
          </a:xfrm>
        </p:spPr>
        <p:txBody>
          <a:bodyPr/>
          <a:lstStyle/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Semaphore Solution</a:t>
            </a: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6699"/>
                </a:solidFill>
                <a:latin typeface="+mj-lt"/>
              </a:rPr>
              <a:t>i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: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wait (chopstick[i]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(i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eat for awhile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(chopstick[i]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 (i + 1) % 5] );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awhile */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  What is the problem with this algorithm?</a:t>
            </a:r>
          </a:p>
          <a:p>
            <a:pPr marL="1195388" lvl="2" indent="-338138">
              <a:lnSpc>
                <a:spcPct val="90000"/>
              </a:lnSpc>
              <a:buFont typeface="Webdings" panose="05030102010509060703" pitchFamily="18" charset="2"/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5711F-6A63-4089-F7ED-866EEDF5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 Dining-Philosophers Problem Algorithm</a:t>
            </a:r>
            <a:endParaRPr lang="en-US" dirty="0"/>
          </a:p>
        </p:txBody>
      </p:sp>
      <p:pic>
        <p:nvPicPr>
          <p:cNvPr id="5" name="Content Placeholder 4" descr="A text on a white background&#10;&#10;Description automatically generated">
            <a:extLst>
              <a:ext uri="{FF2B5EF4-FFF2-40B4-BE49-F238E27FC236}">
                <a16:creationId xmlns:a16="http://schemas.microsoft.com/office/drawing/2014/main" id="{2D9E4991-F9C1-5B02-D243-771AC5BFF9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6450" y="1653490"/>
            <a:ext cx="7727950" cy="3690720"/>
          </a:xfrm>
        </p:spPr>
      </p:pic>
    </p:spTree>
    <p:extLst>
      <p:ext uri="{BB962C8B-B14F-4D97-AF65-F5344CB8AC3E}">
        <p14:creationId xmlns:p14="http://schemas.microsoft.com/office/powerpoint/2010/main" val="1861630478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22659</TotalTime>
  <Words>673</Words>
  <Application>Microsoft Macintosh PowerPoint</Application>
  <PresentationFormat>On-screen Show (4:3)</PresentationFormat>
  <Paragraphs>118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Courier New</vt:lpstr>
      <vt:lpstr>Helvetica</vt:lpstr>
      <vt:lpstr>Monotype Sorts</vt:lpstr>
      <vt:lpstr>Times New Roman</vt:lpstr>
      <vt:lpstr>Verdana</vt:lpstr>
      <vt:lpstr>Webdings</vt:lpstr>
      <vt:lpstr>Wingdings</vt:lpstr>
      <vt:lpstr>os-8</vt:lpstr>
      <vt:lpstr>Chapter 7:  Synchronization Examples</vt:lpstr>
      <vt:lpstr>Classical Problems of Synchronization</vt:lpstr>
      <vt:lpstr>Bounded-Buffer Problem</vt:lpstr>
      <vt:lpstr>Bounded Buffer Problem (Cont.)</vt:lpstr>
      <vt:lpstr>Bounded Buffer Problem (Cont.)</vt:lpstr>
      <vt:lpstr>Bounded-Buffer Problem</vt:lpstr>
      <vt:lpstr>Readers-Writers Problem</vt:lpstr>
      <vt:lpstr>Readers-Writers Problem (Cont.)</vt:lpstr>
      <vt:lpstr>Readers-Writers Problem (Cont.)</vt:lpstr>
      <vt:lpstr>Readers-Writers Problem (Cont.)</vt:lpstr>
      <vt:lpstr>Readers-Writers Problem (Cont.)</vt:lpstr>
      <vt:lpstr>Readers-Writers Problem (Cont.)</vt:lpstr>
      <vt:lpstr>Dining-Philosophers Problem</vt:lpstr>
      <vt:lpstr>  Dining-Philosophers Problem Algorithm</vt:lpstr>
      <vt:lpstr> Dining-Philosophers Problem Algorithm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anaum hamid</cp:lastModifiedBy>
  <cp:revision>422</cp:revision>
  <cp:lastPrinted>2020-11-04T14:30:39Z</cp:lastPrinted>
  <dcterms:created xsi:type="dcterms:W3CDTF">2011-01-13T23:43:38Z</dcterms:created>
  <dcterms:modified xsi:type="dcterms:W3CDTF">2026-04-05T11:18:02Z</dcterms:modified>
</cp:coreProperties>
</file>