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9144000"/>
  <p:notesSz cx="6881800" cy="9296400"/>
  <p:embeddedFontLst>
    <p:embeddedFont>
      <p:font typeface="Book Antiqua"/>
      <p:regular r:id="rId70"/>
      <p:bold r:id="rId71"/>
      <p:italic r:id="rId72"/>
      <p:boldItalic r:id="rId73"/>
    </p:embeddedFont>
    <p:embeddedFont>
      <p:font typeface="Helvetica Neue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GoogleSlidesCustomDataVersion2">
      <go:slidesCustomData xmlns:go="http://customooxmlschemas.google.com/" r:id="rId78" roundtripDataSignature="AMtx7midci4i9dEWat8cxk7iqhDwEWSN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BookAntiqua-boldItalic.fntdata"/><Relationship Id="rId72" Type="http://schemas.openxmlformats.org/officeDocument/2006/relationships/font" Target="fonts/BookAntiqua-italic.fntdata"/><Relationship Id="rId31" Type="http://schemas.openxmlformats.org/officeDocument/2006/relationships/slide" Target="slides/slide26.xml"/><Relationship Id="rId75" Type="http://schemas.openxmlformats.org/officeDocument/2006/relationships/font" Target="fonts/HelveticaNeue-bold.fntdata"/><Relationship Id="rId30" Type="http://schemas.openxmlformats.org/officeDocument/2006/relationships/slide" Target="slides/slide25.xml"/><Relationship Id="rId74" Type="http://schemas.openxmlformats.org/officeDocument/2006/relationships/font" Target="fonts/HelveticaNeue-regular.fntdata"/><Relationship Id="rId33" Type="http://schemas.openxmlformats.org/officeDocument/2006/relationships/slide" Target="slides/slide28.xml"/><Relationship Id="rId77" Type="http://schemas.openxmlformats.org/officeDocument/2006/relationships/font" Target="fonts/HelveticaNeue-boldItalic.fntdata"/><Relationship Id="rId32" Type="http://schemas.openxmlformats.org/officeDocument/2006/relationships/slide" Target="slides/slide27.xml"/><Relationship Id="rId76" Type="http://schemas.openxmlformats.org/officeDocument/2006/relationships/font" Target="fonts/HelveticaNeue-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8" Type="http://customschemas.google.com/relationships/presentationmetadata" Target="metadata"/><Relationship Id="rId71" Type="http://schemas.openxmlformats.org/officeDocument/2006/relationships/font" Target="fonts/BookAntiqua-bold.fntdata"/><Relationship Id="rId70" Type="http://schemas.openxmlformats.org/officeDocument/2006/relationships/font" Target="fonts/BookAntiqua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00488" y="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00" lIns="92425" spcFirstLastPara="1" rIns="92425" wrap="square" tIns="462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00" lIns="92425" spcFirstLastPara="1" rIns="92425" wrap="square" tIns="462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285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00488" y="883285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900488" y="883285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1198563" y="701675"/>
            <a:ext cx="4681537" cy="3511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708025" y="4448175"/>
            <a:ext cx="5662613" cy="421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6950" lIns="93925" spcFirstLastPara="1" rIns="93925" wrap="square" tIns="46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9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21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22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24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25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26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7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29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30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31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32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33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34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5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36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8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39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40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41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42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3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43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44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45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46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47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:notes"/>
          <p:cNvSpPr txBox="1"/>
          <p:nvPr>
            <p:ph idx="12" type="sldNum"/>
          </p:nvPr>
        </p:nvSpPr>
        <p:spPr>
          <a:xfrm>
            <a:off x="3900488" y="883285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0" name="Google Shape;350;p48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48:notes"/>
          <p:cNvSpPr txBox="1"/>
          <p:nvPr>
            <p:ph idx="1" type="body"/>
          </p:nvPr>
        </p:nvSpPr>
        <p:spPr>
          <a:xfrm>
            <a:off x="931414" y="4410392"/>
            <a:ext cx="5134874" cy="417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49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50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1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1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2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52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3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4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5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5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6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56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7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57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8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58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9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59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60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1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1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2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62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3:notes"/>
          <p:cNvSpPr/>
          <p:nvPr>
            <p:ph idx="2" type="sldImg"/>
          </p:nvPr>
        </p:nvSpPr>
        <p:spPr>
          <a:xfrm>
            <a:off x="11176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63:notes"/>
          <p:cNvSpPr txBox="1"/>
          <p:nvPr>
            <p:ph idx="1" type="body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4:notes"/>
          <p:cNvSpPr txBox="1"/>
          <p:nvPr>
            <p:ph idx="12" type="sldNum"/>
          </p:nvPr>
        </p:nvSpPr>
        <p:spPr>
          <a:xfrm>
            <a:off x="3900488" y="8832850"/>
            <a:ext cx="29813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64:notes"/>
          <p:cNvSpPr/>
          <p:nvPr>
            <p:ph idx="2" type="sldImg"/>
          </p:nvPr>
        </p:nvSpPr>
        <p:spPr>
          <a:xfrm>
            <a:off x="11176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64:notes"/>
          <p:cNvSpPr txBox="1"/>
          <p:nvPr>
            <p:ph idx="1" type="body"/>
          </p:nvPr>
        </p:nvSpPr>
        <p:spPr>
          <a:xfrm>
            <a:off x="917575" y="4416425"/>
            <a:ext cx="5046663" cy="418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66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23" name="Google Shape;23;p66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4" name="Google Shape;24;p66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" name="Google Shape;25;p66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6" name="Google Shape;26;p66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©2018</a:t>
            </a:r>
            <a:endParaRPr/>
          </a:p>
        </p:txBody>
      </p:sp>
      <p:sp>
        <p:nvSpPr>
          <p:cNvPr id="27" name="Google Shape;27;p66"/>
          <p:cNvSpPr txBox="1"/>
          <p:nvPr/>
        </p:nvSpPr>
        <p:spPr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10</a:t>
            </a:r>
            <a:r>
              <a:rPr b="1" baseline="30000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b="1" i="0" lang="en-US" sz="1000" u="none" cap="none" strike="noStrik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4" id="28" name="Google Shape;2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9" name="Google Shape;29;p66"/>
          <p:cNvSpPr/>
          <p:nvPr/>
        </p:nvSpPr>
        <p:spPr>
          <a:xfrm>
            <a:off x="3224213" y="4006850"/>
            <a:ext cx="2336800" cy="1887538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66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63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Char char="•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9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9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algn="l">
              <a:spcBef>
                <a:spcPts val="980"/>
              </a:spcBef>
              <a:spcAft>
                <a:spcPts val="0"/>
              </a:spcAft>
              <a:buSzPts val="3080"/>
              <a:buChar char="▪"/>
              <a:defRPr sz="2800"/>
            </a:lvl1pPr>
            <a:lvl2pPr indent="-396240" lvl="1" marL="914400" algn="l">
              <a:spcBef>
                <a:spcPts val="840"/>
              </a:spcBef>
              <a:spcAft>
                <a:spcPts val="0"/>
              </a:spcAft>
              <a:buSzPts val="2640"/>
              <a:buChar char="•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38" name="Google Shape;38;p69"/>
          <p:cNvSpPr txBox="1"/>
          <p:nvPr>
            <p:ph idx="2" type="body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24180" lvl="0" marL="457200" algn="l">
              <a:spcBef>
                <a:spcPts val="980"/>
              </a:spcBef>
              <a:spcAft>
                <a:spcPts val="0"/>
              </a:spcAft>
              <a:buSzPts val="3080"/>
              <a:buChar char="▪"/>
              <a:defRPr sz="2800"/>
            </a:lvl1pPr>
            <a:lvl2pPr indent="-396240" lvl="1" marL="914400" algn="l">
              <a:spcBef>
                <a:spcPts val="840"/>
              </a:spcBef>
              <a:spcAft>
                <a:spcPts val="0"/>
              </a:spcAft>
              <a:buSzPts val="2640"/>
              <a:buChar char="•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0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7" name="Google Shape;47;p7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algn="l">
              <a:spcBef>
                <a:spcPts val="840"/>
              </a:spcBef>
              <a:spcAft>
                <a:spcPts val="0"/>
              </a:spcAft>
              <a:buSzPts val="2640"/>
              <a:buChar char="▪"/>
              <a:defRPr sz="2400"/>
            </a:lvl1pPr>
            <a:lvl2pPr indent="-368300" lvl="1" marL="914400" algn="l">
              <a:spcBef>
                <a:spcPts val="700"/>
              </a:spcBef>
              <a:spcAft>
                <a:spcPts val="0"/>
              </a:spcAft>
              <a:buSzPts val="2200"/>
              <a:buChar char="•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8" name="Google Shape;48;p7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64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9" name="Google Shape;49;p7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6240" lvl="0" marL="457200" algn="l">
              <a:spcBef>
                <a:spcPts val="840"/>
              </a:spcBef>
              <a:spcAft>
                <a:spcPts val="0"/>
              </a:spcAft>
              <a:buSzPts val="2640"/>
              <a:buChar char="▪"/>
              <a:defRPr sz="2400"/>
            </a:lvl1pPr>
            <a:lvl2pPr indent="-368300" lvl="1" marL="914400" algn="l">
              <a:spcBef>
                <a:spcPts val="700"/>
              </a:spcBef>
              <a:spcAft>
                <a:spcPts val="0"/>
              </a:spcAft>
              <a:buSzPts val="2200"/>
              <a:buChar char="•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2119" lvl="0" marL="457200" algn="l">
              <a:spcBef>
                <a:spcPts val="1120"/>
              </a:spcBef>
              <a:spcAft>
                <a:spcPts val="0"/>
              </a:spcAft>
              <a:buSzPts val="3520"/>
              <a:buChar char="▪"/>
              <a:defRPr sz="3200"/>
            </a:lvl1pPr>
            <a:lvl2pPr indent="-424180" lvl="1" marL="914400" algn="l">
              <a:spcBef>
                <a:spcPts val="980"/>
              </a:spcBef>
              <a:spcAft>
                <a:spcPts val="0"/>
              </a:spcAft>
              <a:buSzPts val="3080"/>
              <a:buFont typeface="Noto Sans Symbols"/>
              <a:buChar char="▪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23850" lvl="3" marL="1828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3" name="Google Shape;53;p7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54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54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5"/>
          <p:cNvSpPr txBox="1"/>
          <p:nvPr>
            <p:ph idx="1" type="body"/>
          </p:nvPr>
        </p:nvSpPr>
        <p:spPr>
          <a:xfrm rot="5400000">
            <a:off x="2655888" y="-615950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63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Char char="•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6"/>
          <p:cNvSpPr txBox="1"/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6"/>
          <p:cNvSpPr txBox="1"/>
          <p:nvPr>
            <p:ph idx="1" type="body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63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spcBef>
                <a:spcPts val="630"/>
              </a:spcBef>
              <a:spcAft>
                <a:spcPts val="0"/>
              </a:spcAft>
              <a:buSzPts val="1980"/>
              <a:buChar char="•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3.jpg"/><Relationship Id="rId2" Type="http://schemas.openxmlformats.org/officeDocument/2006/relationships/image" Target="../media/image2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10" name="Google Shape;10;p6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5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433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9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65"/>
          <p:cNvSpPr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65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65"/>
          <p:cNvSpPr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65"/>
          <p:cNvSpPr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65"/>
          <p:cNvSpPr txBox="1"/>
          <p:nvPr/>
        </p:nvSpPr>
        <p:spPr>
          <a:xfrm>
            <a:off x="4257675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fld id="{00000000-1234-1234-1234-123412341234}" type="slidenum"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6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65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©2018</a:t>
            </a:r>
            <a:endParaRPr/>
          </a:p>
        </p:txBody>
      </p:sp>
      <p:sp>
        <p:nvSpPr>
          <p:cNvPr id="19" name="Google Shape;19;p65"/>
          <p:cNvSpPr txBox="1"/>
          <p:nvPr/>
        </p:nvSpPr>
        <p:spPr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10</a:t>
            </a:r>
            <a:r>
              <a:rPr b="1" baseline="30000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6" id="20" name="Google Shape;2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42900" y="1330036"/>
            <a:ext cx="8458200" cy="1582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12700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1:  Introduction</a:t>
            </a:r>
            <a:br>
              <a:rPr lang="en-US"/>
            </a:br>
            <a:r>
              <a:rPr b="0" i="0" lang="en-US" sz="2000" u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Operating Systems (CS-2006)  Spring 202</a:t>
            </a:r>
            <a:r>
              <a:rPr b="0"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rgbClr val="0070C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809502" y="3244334"/>
            <a:ext cx="55249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C0"/>
                </a:solidFill>
                <a:latin typeface="Book Antiqua"/>
                <a:ea typeface="Book Antiqua"/>
                <a:cs typeface="Book Antiqua"/>
                <a:sym typeface="Book Antiqua"/>
              </a:rPr>
              <a:t>COURSE SUPERVISOR:   ANAUM HAMID</a:t>
            </a:r>
            <a:endParaRPr b="0" i="0" sz="1800" u="none" cap="none" strike="noStrike">
              <a:solidFill>
                <a:srgbClr val="0070C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Outline</a:t>
            </a:r>
            <a:endParaRPr/>
          </a:p>
        </p:txBody>
      </p:sp>
      <p:pic>
        <p:nvPicPr>
          <p:cNvPr descr="A diagram of software programming&#10;&#10;Description automatically generated" id="76" name="Google Shape;76;p2"/>
          <p:cNvPicPr preferRelativeResize="0"/>
          <p:nvPr/>
        </p:nvPicPr>
        <p:blipFill rotWithShape="1">
          <a:blip r:embed="rId3">
            <a:alphaModFix/>
          </a:blip>
          <a:srcRect b="5083" l="19877" r="18220" t="14189"/>
          <a:stretch/>
        </p:blipFill>
        <p:spPr>
          <a:xfrm>
            <a:off x="1386974" y="1082138"/>
            <a:ext cx="6370052" cy="469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Evaluation Instruments and Marks Distributions </a:t>
            </a:r>
            <a:endParaRPr sz="3600"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= 10 marks</a:t>
            </a:r>
            <a:endParaRPr b="0" i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/Assignment </a:t>
            </a: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Marks</a:t>
            </a:r>
            <a:endParaRPr b="0" i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Midterm  = 30 marks (15 for each)</a:t>
            </a:r>
            <a:endParaRPr b="0" i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Term = 50 marks</a:t>
            </a:r>
            <a:endParaRPr b="0" i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080"/>
              <a:buFont typeface="Arial"/>
              <a:buChar char="•"/>
            </a:pPr>
            <a:r>
              <a:rPr b="0" i="0" lang="en-US" sz="2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= 100 Marks</a:t>
            </a:r>
            <a:endParaRPr b="0" i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</a:t>
            </a:r>
            <a:r>
              <a:rPr lang="en-US"/>
              <a:t>Resources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640"/>
              <a:buChar char="▪"/>
            </a:pPr>
            <a:r>
              <a:rPr b="1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TEXTBOOK:</a:t>
            </a:r>
            <a:endParaRPr b="0" sz="24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640"/>
              <a:buFont typeface="Arial"/>
              <a:buChar char="•"/>
            </a:pPr>
            <a:r>
              <a:rPr b="0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Operating Systems Concepts,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10th</a:t>
            </a:r>
            <a:r>
              <a:rPr b="0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Edition,</a:t>
            </a:r>
            <a:r>
              <a:rPr b="0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by Abraham Silberschatz, Peter Baer Galvin, and Greg Gagne.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 b="0" i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640"/>
              <a:buChar char="▪"/>
            </a:pPr>
            <a:r>
              <a:rPr b="1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 BOOKS:</a:t>
            </a:r>
            <a:endParaRPr b="0" sz="24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640"/>
              <a:buFont typeface="Arial"/>
              <a:buChar char="•"/>
            </a:pPr>
            <a:r>
              <a:rPr b="0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—Internals</a:t>
            </a:r>
            <a:r>
              <a:rPr b="0" i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Design Principles, 9th edition, by William Stallings</a:t>
            </a:r>
            <a:r>
              <a:rPr b="0" i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idx="4294967295" type="title"/>
          </p:nvPr>
        </p:nvSpPr>
        <p:spPr>
          <a:xfrm>
            <a:off x="457200" y="203200"/>
            <a:ext cx="803433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1: Introduction</a:t>
            </a:r>
            <a:endParaRPr/>
          </a:p>
        </p:txBody>
      </p:sp>
      <p:sp>
        <p:nvSpPr>
          <p:cNvPr id="94" name="Google Shape;94;p5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What Operating Systems Do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Computer-System Organization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Computer-System Architecture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Operating-System Operations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Clr>
                <a:srgbClr val="00477C"/>
              </a:buClr>
              <a:buSzPts val="1980"/>
              <a:buChar char="▪"/>
            </a:pPr>
            <a:r>
              <a:rPr b="1" lang="en-US">
                <a:solidFill>
                  <a:srgbClr val="00477C"/>
                </a:solidFill>
              </a:rPr>
              <a:t>Kernel Data Structures</a:t>
            </a:r>
            <a:endParaRPr b="1">
              <a:solidFill>
                <a:srgbClr val="00477C"/>
              </a:solidFill>
            </a:endParaRPr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Clr>
                <a:srgbClr val="00477C"/>
              </a:buClr>
              <a:buSzPts val="1980"/>
              <a:buChar char="▪"/>
            </a:pPr>
            <a:r>
              <a:rPr b="1" lang="en-US">
                <a:solidFill>
                  <a:srgbClr val="00477C"/>
                </a:solidFill>
              </a:rPr>
              <a:t>Computing Environments</a:t>
            </a:r>
            <a:endParaRPr b="1">
              <a:solidFill>
                <a:srgbClr val="00477C"/>
              </a:solidFill>
            </a:endParaRPr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477C"/>
                </a:solidFill>
              </a:rPr>
              <a:t>Free/Libre and Open-Source Operating Systems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Operating System?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Font typeface="Arial"/>
              <a:buChar char="•"/>
            </a:pPr>
            <a:r>
              <a:rPr b="1" i="0" lang="en-US" sz="1800" u="none" strike="noStrike"/>
              <a:t>Operating system (OS): </a:t>
            </a:r>
            <a:r>
              <a:rPr b="0" i="0" lang="en-US" sz="1800" u="none" strike="noStrike"/>
              <a:t>a </a:t>
            </a:r>
            <a:r>
              <a:rPr b="1" i="0" lang="en-US" sz="1800" u="none" strike="noStrike"/>
              <a:t>system software </a:t>
            </a:r>
            <a:r>
              <a:rPr b="0" i="0" lang="en-US" sz="1800" u="none" strike="noStrike"/>
              <a:t>that exploits the</a:t>
            </a:r>
            <a:r>
              <a:rPr b="1" lang="en-US" sz="1800"/>
              <a:t> </a:t>
            </a:r>
            <a:r>
              <a:rPr b="1" i="0" lang="en-US" sz="1800" u="none" strike="noStrike"/>
              <a:t>hardware resources </a:t>
            </a:r>
            <a:r>
              <a:rPr b="0" i="0" lang="en-US" sz="1800" u="none" strike="noStrike"/>
              <a:t>to provide a set of services to system users.</a:t>
            </a:r>
            <a:endParaRPr b="0" sz="1800"/>
          </a:p>
          <a:p>
            <a:pPr indent="-342900" lvl="0" marL="342900" marR="6350" rtl="0" algn="l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SzPts val="1980"/>
              <a:buFont typeface="Arial"/>
              <a:buChar char="•"/>
            </a:pPr>
            <a:r>
              <a:rPr b="0" i="0" lang="en-US" sz="1800" u="none" strike="noStrike"/>
              <a:t>The OS manages the processor(s), memory and input/output  (I/O) devices on behalf of its users.</a:t>
            </a:r>
            <a:endParaRPr/>
          </a:p>
          <a:p>
            <a:pPr indent="-342900" lvl="0" marL="342900" marR="508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80"/>
              <a:buFont typeface="Arial"/>
              <a:buChar char="•"/>
            </a:pPr>
            <a:r>
              <a:rPr b="1" i="1" lang="en-US" sz="1800" u="none" strike="noStrike"/>
              <a:t>Note: </a:t>
            </a:r>
            <a:r>
              <a:rPr b="0" i="0" lang="en-US" sz="1800" u="none" strike="noStrike"/>
              <a:t>it is important to have some fundamental understanding of  basic data structures, computer organization and a high-level  programming language, such as C or Java, before examining  topics related to operating systems.</a:t>
            </a:r>
            <a:endParaRPr b="1" i="1" sz="1800" u="none" strike="noStrike"/>
          </a:p>
          <a:p>
            <a:pPr indent="-21717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sz="1800"/>
          </a:p>
        </p:txBody>
      </p:sp>
      <p:pic>
        <p:nvPicPr>
          <p:cNvPr descr="A group of logos of different brands&#10;&#10;Description automatically generated"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7450" y="2029809"/>
            <a:ext cx="4038600" cy="293808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idx="4294967295" type="title"/>
          </p:nvPr>
        </p:nvSpPr>
        <p:spPr>
          <a:xfrm>
            <a:off x="963613" y="198438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Operating System?</a:t>
            </a:r>
            <a:endParaRPr/>
          </a:p>
        </p:txBody>
      </p:sp>
      <p:sp>
        <p:nvSpPr>
          <p:cNvPr id="107" name="Google Shape;107;p7"/>
          <p:cNvSpPr txBox="1"/>
          <p:nvPr>
            <p:ph idx="4294967295" type="body"/>
          </p:nvPr>
        </p:nvSpPr>
        <p:spPr>
          <a:xfrm>
            <a:off x="925513" y="1268413"/>
            <a:ext cx="7121525" cy="415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 program that acts as an intermediary between a user of a computer and the computer hardware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Operating system goals: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Execute user programs and make solving user problems easier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Make the computer system convenient to use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Use the computer hardware in an efficient manner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idx="4294967295" type="title"/>
          </p:nvPr>
        </p:nvSpPr>
        <p:spPr>
          <a:xfrm>
            <a:off x="1041400" y="201613"/>
            <a:ext cx="75326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System Structure</a:t>
            </a:r>
            <a:endParaRPr/>
          </a:p>
        </p:txBody>
      </p:sp>
      <p:sp>
        <p:nvSpPr>
          <p:cNvPr id="113" name="Google Shape;113;p8"/>
          <p:cNvSpPr txBox="1"/>
          <p:nvPr>
            <p:ph idx="4294967295" type="body"/>
          </p:nvPr>
        </p:nvSpPr>
        <p:spPr>
          <a:xfrm>
            <a:off x="801688" y="1204913"/>
            <a:ext cx="777240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Computer system can be divided into four components: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Hardware – provides basic computing resources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CPU, memory, I/O devices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Operating system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Controls and coordinates use of hardware among various applications and users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Application programs – define the ways in which the system resources are used to solve the computing problems of the users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Word processors, compilers, web browsers, database systems, video games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Users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People, machines, other computers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System Structure</a:t>
            </a:r>
            <a:endParaRPr/>
          </a:p>
        </p:txBody>
      </p:sp>
      <p:pic>
        <p:nvPicPr>
          <p:cNvPr descr="A diagram of software components&#10;&#10;Description automatically generated" id="119" name="Google Shape;11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450" y="1729487"/>
            <a:ext cx="8229600" cy="353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idx="4294967295" type="title"/>
          </p:nvPr>
        </p:nvSpPr>
        <p:spPr>
          <a:xfrm>
            <a:off x="1041400" y="182563"/>
            <a:ext cx="7645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Abstract View of Components of Computer</a:t>
            </a:r>
            <a:endParaRPr/>
          </a:p>
        </p:txBody>
      </p:sp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288" y="1871663"/>
            <a:ext cx="4621212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idx="4294967295" type="title"/>
          </p:nvPr>
        </p:nvSpPr>
        <p:spPr>
          <a:xfrm>
            <a:off x="457200" y="201613"/>
            <a:ext cx="81264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Operating Systems Do</a:t>
            </a:r>
            <a:endParaRPr/>
          </a:p>
        </p:txBody>
      </p:sp>
      <p:sp>
        <p:nvSpPr>
          <p:cNvPr id="131" name="Google Shape;131;p11"/>
          <p:cNvSpPr txBox="1"/>
          <p:nvPr>
            <p:ph idx="4294967295" type="body"/>
          </p:nvPr>
        </p:nvSpPr>
        <p:spPr>
          <a:xfrm>
            <a:off x="746125" y="1120775"/>
            <a:ext cx="794067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Users want convenience,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ease of use </a:t>
            </a:r>
            <a:r>
              <a:rPr lang="en-US"/>
              <a:t>and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good performance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Don’t care about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resource utilization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But shared computer such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mainframe</a:t>
            </a:r>
            <a:r>
              <a:rPr lang="en-US"/>
              <a:t> or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minicomputer</a:t>
            </a:r>
            <a:r>
              <a:rPr lang="en-US"/>
              <a:t> must keep all users happy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Operating system is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resource allocator </a:t>
            </a:r>
            <a:r>
              <a:rPr lang="en-US"/>
              <a:t>and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control program </a:t>
            </a:r>
            <a:r>
              <a:rPr lang="en-US"/>
              <a:t>making efficient use of HW and managing execution of user programs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Users of dedicate systems such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workstations</a:t>
            </a:r>
            <a:r>
              <a:rPr lang="en-US"/>
              <a:t> have dedicated resources but frequently use shared resources from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>
                <a:solidFill>
                  <a:srgbClr val="000000"/>
                </a:solidFill>
              </a:rPr>
              <a:t>Mobile devices like smartphones and tables are resource poor,  optimized for usability and battery life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0000"/>
                </a:solidFill>
              </a:rPr>
              <a:t>Mobile user interfaces such as touch screens, voice recognition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0000"/>
                </a:solidFill>
              </a:rPr>
              <a:t>Run primarily without user intervention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idx="4294967295" type="title"/>
          </p:nvPr>
        </p:nvSpPr>
        <p:spPr>
          <a:xfrm>
            <a:off x="1176338" y="195263"/>
            <a:ext cx="7342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Defining Operating Systems</a:t>
            </a:r>
            <a:endParaRPr/>
          </a:p>
        </p:txBody>
      </p:sp>
      <p:sp>
        <p:nvSpPr>
          <p:cNvPr id="137" name="Google Shape;137;p12"/>
          <p:cNvSpPr txBox="1"/>
          <p:nvPr>
            <p:ph idx="4294967295" type="body"/>
          </p:nvPr>
        </p:nvSpPr>
        <p:spPr>
          <a:xfrm>
            <a:off x="755650" y="1028700"/>
            <a:ext cx="7441293" cy="4196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Term OS covers many roles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70C0"/>
                </a:solidFill>
              </a:rPr>
              <a:t>OS is a resource allocator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Manages all resources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Decides between conflicting requests for efficient and fair resource use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70C0"/>
                </a:solidFill>
              </a:rPr>
              <a:t>OS is a control program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Controls execution of programs to prevent errors and improper use of the computer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idx="4294967295" type="title"/>
          </p:nvPr>
        </p:nvSpPr>
        <p:spPr>
          <a:xfrm>
            <a:off x="1033463" y="198438"/>
            <a:ext cx="75326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Definition</a:t>
            </a:r>
            <a:endParaRPr/>
          </a:p>
        </p:txBody>
      </p:sp>
      <p:sp>
        <p:nvSpPr>
          <p:cNvPr id="143" name="Google Shape;143;p13"/>
          <p:cNvSpPr txBox="1"/>
          <p:nvPr>
            <p:ph idx="4294967295" type="body"/>
          </p:nvPr>
        </p:nvSpPr>
        <p:spPr>
          <a:xfrm>
            <a:off x="784225" y="1247775"/>
            <a:ext cx="7989661" cy="472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“The one program running at all times on the computer” is the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kernel, </a:t>
            </a:r>
            <a:r>
              <a:rPr lang="en-US"/>
              <a:t>part of the operating system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Everything else is either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 </a:t>
            </a:r>
            <a:r>
              <a:rPr b="1" i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system program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(ships with the operating system, but not part of the kernel) , or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An </a:t>
            </a:r>
            <a:r>
              <a:rPr b="1" i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application program</a:t>
            </a:r>
            <a:r>
              <a:rPr lang="en-US"/>
              <a:t>, all programs not associated with the operating system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Today’s OSes for general purpose and mobile computing also include </a:t>
            </a:r>
            <a:r>
              <a:rPr b="1" i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middleware</a:t>
            </a:r>
            <a:r>
              <a:rPr lang="en-US"/>
              <a:t> – a set of software frameworks that provide additional services to application developers such as databases, multimedia, graphics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idx="4294967295" type="body"/>
          </p:nvPr>
        </p:nvSpPr>
        <p:spPr>
          <a:xfrm>
            <a:off x="292100" y="2897302"/>
            <a:ext cx="8813800" cy="1063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Overview of Computer System Structure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idx="4294967295" type="title"/>
          </p:nvPr>
        </p:nvSpPr>
        <p:spPr>
          <a:xfrm>
            <a:off x="868363" y="214313"/>
            <a:ext cx="7639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System Organization</a:t>
            </a:r>
            <a:endParaRPr/>
          </a:p>
        </p:txBody>
      </p:sp>
      <p:sp>
        <p:nvSpPr>
          <p:cNvPr id="154" name="Google Shape;154;p15"/>
          <p:cNvSpPr txBox="1"/>
          <p:nvPr>
            <p:ph idx="4294967295" type="body"/>
          </p:nvPr>
        </p:nvSpPr>
        <p:spPr>
          <a:xfrm>
            <a:off x="774700" y="1233488"/>
            <a:ext cx="76390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Computer-system operation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One or more CPUs, device controllers connect through common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r>
              <a:rPr lang="en-US"/>
              <a:t> providing access to shared memory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Concurrent execution of CPUs and devices competing for memory cycles</a:t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088" y="3098800"/>
            <a:ext cx="6216650" cy="30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idx="4294967295" type="title"/>
          </p:nvPr>
        </p:nvSpPr>
        <p:spPr>
          <a:xfrm>
            <a:off x="885825" y="220663"/>
            <a:ext cx="76057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Computer-System Operation</a:t>
            </a:r>
            <a:endParaRPr/>
          </a:p>
        </p:txBody>
      </p:sp>
      <p:sp>
        <p:nvSpPr>
          <p:cNvPr id="161" name="Google Shape;161;p16"/>
          <p:cNvSpPr txBox="1"/>
          <p:nvPr>
            <p:ph idx="4294967295" type="body"/>
          </p:nvPr>
        </p:nvSpPr>
        <p:spPr>
          <a:xfrm>
            <a:off x="806450" y="1233489"/>
            <a:ext cx="7390099" cy="4528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I/O devices and the CPU can execute concurrently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Each device controller is in charge of a particular device type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Each device controller has a local buffer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Each device controller type has an operating system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device driver</a:t>
            </a:r>
            <a:r>
              <a:rPr lang="en-US"/>
              <a:t> to manage it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CPU moves data from/to main memory to/from local buffers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I/O is from the device to local buffer of controller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Device controller informs CPU that it has finished its operation by causing an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interrupt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idx="4294967295" type="title"/>
          </p:nvPr>
        </p:nvSpPr>
        <p:spPr>
          <a:xfrm>
            <a:off x="946150" y="195263"/>
            <a:ext cx="75914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Functions of Interrupts</a:t>
            </a:r>
            <a:endParaRPr/>
          </a:p>
        </p:txBody>
      </p:sp>
      <p:sp>
        <p:nvSpPr>
          <p:cNvPr id="167" name="Google Shape;167;p17"/>
          <p:cNvSpPr txBox="1"/>
          <p:nvPr>
            <p:ph idx="4294967295" type="body"/>
          </p:nvPr>
        </p:nvSpPr>
        <p:spPr>
          <a:xfrm>
            <a:off x="806451" y="1233489"/>
            <a:ext cx="6993492" cy="4385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Interrupt transfers control to the interrupt service routine generally, through the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interrupt vector</a:t>
            </a:r>
            <a:r>
              <a:rPr lang="en-US"/>
              <a:t>, which contains the addresses of all the service routines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Interrupt architecture must save the address of the interrupted instruction</a:t>
            </a:r>
            <a:endParaRPr i="1"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trap</a:t>
            </a:r>
            <a:r>
              <a:rPr lang="en-US"/>
              <a:t> or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exception </a:t>
            </a:r>
            <a:r>
              <a:rPr lang="en-US"/>
              <a:t>is a software-generated interrupt caused either by an error or a user request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An operating system is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interrupt driven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idx="4294967295" type="title"/>
          </p:nvPr>
        </p:nvSpPr>
        <p:spPr>
          <a:xfrm>
            <a:off x="457200" y="195263"/>
            <a:ext cx="80518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Interrupt Timeline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563" y="1908175"/>
            <a:ext cx="8355012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4294967295" type="title"/>
          </p:nvPr>
        </p:nvSpPr>
        <p:spPr>
          <a:xfrm>
            <a:off x="1063625" y="-57150"/>
            <a:ext cx="7515225" cy="844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Interrupt Handling</a:t>
            </a:r>
            <a:endParaRPr/>
          </a:p>
        </p:txBody>
      </p:sp>
      <p:sp>
        <p:nvSpPr>
          <p:cNvPr id="179" name="Google Shape;179;p19"/>
          <p:cNvSpPr txBox="1"/>
          <p:nvPr>
            <p:ph idx="4294967295" type="body"/>
          </p:nvPr>
        </p:nvSpPr>
        <p:spPr>
          <a:xfrm>
            <a:off x="806450" y="1233489"/>
            <a:ext cx="6609234" cy="4192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The operating system preserves the state of the CPU by storing the registers and the program counter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Determines which type of interrupt has occurred: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Separate segments of code determine what action should be taken for each type of interrupt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idx="4294967295" type="title"/>
          </p:nvPr>
        </p:nvSpPr>
        <p:spPr>
          <a:xfrm>
            <a:off x="457200" y="214313"/>
            <a:ext cx="81168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Interrupt-drive I/O Cycle</a:t>
            </a:r>
            <a:endParaRPr/>
          </a:p>
        </p:txBody>
      </p:sp>
      <p:pic>
        <p:nvPicPr>
          <p:cNvPr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0738" y="1179513"/>
            <a:ext cx="5084762" cy="501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4294967295" type="title"/>
          </p:nvPr>
        </p:nvSpPr>
        <p:spPr>
          <a:xfrm>
            <a:off x="457200" y="212725"/>
            <a:ext cx="80994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I/O Structure</a:t>
            </a:r>
            <a:endParaRPr/>
          </a:p>
        </p:txBody>
      </p:sp>
      <p:sp>
        <p:nvSpPr>
          <p:cNvPr id="191" name="Google Shape;191;p21"/>
          <p:cNvSpPr txBox="1"/>
          <p:nvPr>
            <p:ph idx="4294967295" type="body"/>
          </p:nvPr>
        </p:nvSpPr>
        <p:spPr>
          <a:xfrm>
            <a:off x="895351" y="1244600"/>
            <a:ext cx="6618153" cy="435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Two methods for handling I/O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After I/O starts, control returns to user program only upon I/O completion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After I/O starts, control returns to user program without waiting for I/O completion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idx="4294967295" type="title"/>
          </p:nvPr>
        </p:nvSpPr>
        <p:spPr>
          <a:xfrm>
            <a:off x="457200" y="212725"/>
            <a:ext cx="80994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I/O Structure (Cont.)</a:t>
            </a:r>
            <a:endParaRPr/>
          </a:p>
        </p:txBody>
      </p:sp>
      <p:sp>
        <p:nvSpPr>
          <p:cNvPr id="197" name="Google Shape;197;p22"/>
          <p:cNvSpPr txBox="1"/>
          <p:nvPr>
            <p:ph idx="4294967295" type="body"/>
          </p:nvPr>
        </p:nvSpPr>
        <p:spPr>
          <a:xfrm>
            <a:off x="895351" y="1244600"/>
            <a:ext cx="7202048" cy="4528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After I/O starts, control returns to user program only upon I/O completion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Wait instruction idles the CPU until the next interrupt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Wait loop (contention for memory access)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At most one I/O request is outstanding at a time, no simultaneous I/O processing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After I/O starts, control returns to user program without waiting for I/O completion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System call </a:t>
            </a:r>
            <a:r>
              <a:rPr lang="en-US"/>
              <a:t>– request to the OS to allow user to wait for I/O completion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Device-status table </a:t>
            </a:r>
            <a:r>
              <a:rPr lang="en-US"/>
              <a:t>contains entry for each I/O device indicating its type, address, and state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OS indexes into I/O device table to determine device status and to modify table entry to include interrupt</a:t>
            </a:r>
            <a:endParaRPr/>
          </a:p>
          <a:p>
            <a:pPr indent="-160019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idx="4294967295" type="title"/>
          </p:nvPr>
        </p:nvSpPr>
        <p:spPr>
          <a:xfrm>
            <a:off x="457200" y="201613"/>
            <a:ext cx="80613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Startup</a:t>
            </a:r>
            <a:endParaRPr/>
          </a:p>
        </p:txBody>
      </p:sp>
      <p:sp>
        <p:nvSpPr>
          <p:cNvPr id="203" name="Google Shape;203;p23"/>
          <p:cNvSpPr txBox="1"/>
          <p:nvPr>
            <p:ph idx="4294967295" type="body"/>
          </p:nvPr>
        </p:nvSpPr>
        <p:spPr>
          <a:xfrm>
            <a:off x="806451" y="1233489"/>
            <a:ext cx="6432550" cy="4416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Bootstrap program </a:t>
            </a:r>
            <a:r>
              <a:rPr lang="en-US"/>
              <a:t>is loaded at power-up or reboot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Typically stored in ROM or EPROM, generally known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Initializes all aspects of system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Loads operating system kernel and starts execution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idx="4294967295" type="body"/>
          </p:nvPr>
        </p:nvSpPr>
        <p:spPr>
          <a:xfrm>
            <a:off x="2144488" y="2888119"/>
            <a:ext cx="5116286" cy="1030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Storage Structure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idx="4294967295" type="title"/>
          </p:nvPr>
        </p:nvSpPr>
        <p:spPr>
          <a:xfrm>
            <a:off x="457200" y="198438"/>
            <a:ext cx="8080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Structure</a:t>
            </a:r>
            <a:endParaRPr/>
          </a:p>
        </p:txBody>
      </p:sp>
      <p:sp>
        <p:nvSpPr>
          <p:cNvPr id="214" name="Google Shape;214;p25"/>
          <p:cNvSpPr txBox="1"/>
          <p:nvPr>
            <p:ph idx="4294967295" type="body"/>
          </p:nvPr>
        </p:nvSpPr>
        <p:spPr>
          <a:xfrm>
            <a:off x="801688" y="1143002"/>
            <a:ext cx="6744624" cy="439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Main memory – only large storage media that the CPU can access directly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Random access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Typically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volatile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Typically</a:t>
            </a:r>
            <a:r>
              <a:rPr b="1" lang="en-US" sz="1600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random-access</a:t>
            </a:r>
            <a:r>
              <a:rPr b="1" lang="en-US" sz="1600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b="1" lang="en-US" sz="1600">
                <a:solidFill>
                  <a:srgbClr val="3366FF"/>
                </a:solidFill>
              </a:rPr>
              <a:t> </a:t>
            </a:r>
            <a:r>
              <a:rPr lang="en-US"/>
              <a:t>in the form of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Dynamic Random-access Memory (DRAM)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870"/>
              <a:buChar char="▪"/>
            </a:pPr>
            <a:r>
              <a:rPr lang="en-US" sz="1700"/>
              <a:t>Secondary storage – extension of main memory that provides large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nonvolatile </a:t>
            </a:r>
            <a:r>
              <a:rPr lang="en-US" sz="1700"/>
              <a:t>storage capacity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idx="4294967295" type="title"/>
          </p:nvPr>
        </p:nvSpPr>
        <p:spPr>
          <a:xfrm>
            <a:off x="457200" y="198438"/>
            <a:ext cx="80803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Structure (Cont.)</a:t>
            </a:r>
            <a:endParaRPr/>
          </a:p>
        </p:txBody>
      </p:sp>
      <p:sp>
        <p:nvSpPr>
          <p:cNvPr id="220" name="Google Shape;220;p26"/>
          <p:cNvSpPr txBox="1"/>
          <p:nvPr>
            <p:ph idx="4294967295" type="body"/>
          </p:nvPr>
        </p:nvSpPr>
        <p:spPr>
          <a:xfrm>
            <a:off x="801688" y="1099455"/>
            <a:ext cx="6905398" cy="4441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Hard Disk Drives </a:t>
            </a:r>
            <a:r>
              <a:rPr lang="en-US" sz="1700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HDD</a:t>
            </a:r>
            <a:r>
              <a:rPr lang="en-US" sz="1700"/>
              <a:t>) – rigid metal or glass platters covered with magnetic recording material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Disk surface is logically divided into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 tracks</a:t>
            </a:r>
            <a:r>
              <a:rPr lang="en-US" sz="1600"/>
              <a:t>, which are subdivided into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sectors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The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disk controller </a:t>
            </a:r>
            <a:r>
              <a:rPr lang="en-US" sz="1600"/>
              <a:t>determines the logical interaction between the device and the computer 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Non-volatile memory</a:t>
            </a:r>
            <a:r>
              <a:rPr lang="en-US" sz="1700"/>
              <a:t> 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NVM</a:t>
            </a:r>
            <a:r>
              <a:rPr lang="en-US" sz="1700"/>
              <a:t>)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/>
              <a:t>devices– faster than hard disks, nonvolatile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Various technologies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Becoming more popular as capacity and performance increases, price drops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947738" y="203200"/>
            <a:ext cx="785177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Storage Definitions and Notation Review</a:t>
            </a:r>
            <a:endParaRPr/>
          </a:p>
        </p:txBody>
      </p:sp>
      <p:pic>
        <p:nvPicPr>
          <p:cNvPr id="226" name="Google Shape;22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738" y="1079500"/>
            <a:ext cx="73533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7"/>
          <p:cNvSpPr/>
          <p:nvPr/>
        </p:nvSpPr>
        <p:spPr>
          <a:xfrm>
            <a:off x="842962" y="1079500"/>
            <a:ext cx="8039100" cy="4953000"/>
          </a:xfrm>
          <a:prstGeom prst="rect">
            <a:avLst/>
          </a:prstGeom>
          <a:solidFill>
            <a:srgbClr val="CEEBF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The basic unit of computer storage is the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bit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A bit can contain one of two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values, 0 and 1. All other storage in a computer is based on collections of bits.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enough bits, it is amazing how many things a computer can represent: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numbers, letters, images, movies, sounds, documents, and programs, to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few. A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byte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is 8 bits, and on most computers it is the smallest convenient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chunk of storage. For example, most computers don’t have an instruction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move a bit but do have one to move a byte. A less common term is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which is a given computer architecture’s native unit of data. A word is made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up of one or more bytes. For example, a computer that has 64-bit registers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64-bit memory addressing typically has 64-bit (8-byte) words. A computer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executes many operations in its native word size rather than a byte at a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Computer storage, along with most computer throughput, is generally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measured and manipulated in bytes and collections of bytes. A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kilobyte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KB , is 1,024 bytes; a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megabyte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or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MB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is 1,024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 bytes; a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gigabyte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or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GB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1,024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 bytes; a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terabyte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or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TB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is 1,024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  bytes; and a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petabyte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or </a:t>
            </a:r>
            <a:r>
              <a:rPr b="1" i="0" lang="en-US" sz="1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PB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is 1,024</a:t>
            </a:r>
            <a:r>
              <a:rPr b="0" baseline="3000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bytes. Computer manufacturers often round off these numbers and say that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megabyte is 1 million bytes and a gigabyte is 1 billion bytes. Networking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measurements are an exception to this general rule; they are given in bits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(because networks move data a bit at a time).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idx="4294967295" type="title"/>
          </p:nvPr>
        </p:nvSpPr>
        <p:spPr>
          <a:xfrm>
            <a:off x="876300" y="211138"/>
            <a:ext cx="76612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Hierarchy</a:t>
            </a:r>
            <a:endParaRPr/>
          </a:p>
        </p:txBody>
      </p:sp>
      <p:sp>
        <p:nvSpPr>
          <p:cNvPr id="233" name="Google Shape;233;p28"/>
          <p:cNvSpPr txBox="1"/>
          <p:nvPr>
            <p:ph idx="4294967295" type="body"/>
          </p:nvPr>
        </p:nvSpPr>
        <p:spPr>
          <a:xfrm>
            <a:off x="806450" y="1124628"/>
            <a:ext cx="78105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Storage systems organized in hierarchy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Speed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Cost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Volatility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en-US"/>
              <a:t> – copying information into faster storage system; main memory can be viewed as a cache for secondary storage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Device Driver </a:t>
            </a:r>
            <a:r>
              <a:rPr lang="en-US"/>
              <a:t>for each device controller to manage I/O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Provides uniform interface between controller and kernel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9"/>
          <p:cNvSpPr txBox="1"/>
          <p:nvPr>
            <p:ph idx="4294967295" type="title"/>
          </p:nvPr>
        </p:nvSpPr>
        <p:spPr>
          <a:xfrm>
            <a:off x="457200" y="198438"/>
            <a:ext cx="81264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Storage-Device Hierarchy</a:t>
            </a:r>
            <a:endParaRPr/>
          </a:p>
        </p:txBody>
      </p:sp>
      <p:pic>
        <p:nvPicPr>
          <p:cNvPr id="239" name="Google Shape;2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613" y="1455738"/>
            <a:ext cx="7483475" cy="4344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>
            <p:ph idx="4294967295" type="title"/>
          </p:nvPr>
        </p:nvSpPr>
        <p:spPr>
          <a:xfrm>
            <a:off x="835025" y="212725"/>
            <a:ext cx="7702550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a Modern Computer Works</a:t>
            </a: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4787900" y="5637213"/>
            <a:ext cx="2874963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von Neumann architecture</a:t>
            </a:r>
            <a:endParaRPr/>
          </a:p>
        </p:txBody>
      </p:sp>
      <p:pic>
        <p:nvPicPr>
          <p:cNvPr id="246" name="Google Shape;2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8025" y="1352550"/>
            <a:ext cx="5122863" cy="40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idx="4294967295" type="body"/>
          </p:nvPr>
        </p:nvSpPr>
        <p:spPr>
          <a:xfrm>
            <a:off x="1676400" y="2888119"/>
            <a:ext cx="6660776" cy="1030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Computer System Architecture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idx="4294967295" type="title"/>
          </p:nvPr>
        </p:nvSpPr>
        <p:spPr>
          <a:xfrm>
            <a:off x="1100138" y="227013"/>
            <a:ext cx="7399337" cy="5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Computer-System Architecture</a:t>
            </a:r>
            <a:endParaRPr/>
          </a:p>
        </p:txBody>
      </p:sp>
      <p:sp>
        <p:nvSpPr>
          <p:cNvPr id="257" name="Google Shape;257;p32"/>
          <p:cNvSpPr txBox="1"/>
          <p:nvPr>
            <p:ph idx="4294967295" type="body"/>
          </p:nvPr>
        </p:nvSpPr>
        <p:spPr>
          <a:xfrm>
            <a:off x="806450" y="1233488"/>
            <a:ext cx="7693025" cy="486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Most systems use a single general-purpose processor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Most systems have special-purpose processors as well</a:t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Multiprocessors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systems growing in use and importance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Also known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parallel systems</a:t>
            </a:r>
            <a:r>
              <a:rPr lang="en-US"/>
              <a:t>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tightly-coupled systems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Advantages include:</a:t>
            </a:r>
            <a:endParaRPr/>
          </a:p>
          <a:p>
            <a:pPr indent="-342900" lvl="2" marL="1200150" rtl="0" algn="l">
              <a:spcBef>
                <a:spcPts val="630"/>
              </a:spcBef>
              <a:spcAft>
                <a:spcPts val="0"/>
              </a:spcAft>
              <a:buSzPts val="1350"/>
              <a:buFont typeface="Arial"/>
              <a:buAutoNum type="arabicPeriod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Increased throughput</a:t>
            </a:r>
            <a:endParaRPr/>
          </a:p>
          <a:p>
            <a:pPr indent="-342900" lvl="2" marL="1200150" rtl="0" algn="l">
              <a:spcBef>
                <a:spcPts val="630"/>
              </a:spcBef>
              <a:spcAft>
                <a:spcPts val="0"/>
              </a:spcAft>
              <a:buSzPts val="1350"/>
              <a:buFont typeface="Arial"/>
              <a:buAutoNum type="arabicPeriod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Economy of scale</a:t>
            </a:r>
            <a:endParaRPr/>
          </a:p>
          <a:p>
            <a:pPr indent="-342900" lvl="2" marL="1200150" rtl="0" algn="l">
              <a:spcBef>
                <a:spcPts val="630"/>
              </a:spcBef>
              <a:spcAft>
                <a:spcPts val="0"/>
              </a:spcAft>
              <a:buSzPts val="1350"/>
              <a:buFont typeface="Arial"/>
              <a:buAutoNum type="arabicPeriod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Increased reliability </a:t>
            </a:r>
            <a:r>
              <a:rPr lang="en-US"/>
              <a:t>– graceful degradation or fault tolerance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Two types:</a:t>
            </a:r>
            <a:endParaRPr/>
          </a:p>
          <a:p>
            <a:pPr indent="-342900" lvl="2" marL="1200150" rtl="0" algn="l">
              <a:spcBef>
                <a:spcPts val="630"/>
              </a:spcBef>
              <a:spcAft>
                <a:spcPts val="0"/>
              </a:spcAft>
              <a:buSzPts val="1350"/>
              <a:buFont typeface="Arial"/>
              <a:buAutoNum type="arabicPeriod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Asymmetric Multiprocessing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– each processor is assigned a specie task.</a:t>
            </a:r>
            <a:endParaRPr/>
          </a:p>
          <a:p>
            <a:pPr indent="-342900" lvl="2" marL="1200150" rtl="0" algn="l">
              <a:spcBef>
                <a:spcPts val="630"/>
              </a:spcBef>
              <a:spcAft>
                <a:spcPts val="0"/>
              </a:spcAft>
              <a:buSzPts val="1350"/>
              <a:buFont typeface="Arial"/>
              <a:buAutoNum type="arabicPeriod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Symmetric Multiprocessing </a:t>
            </a:r>
            <a:r>
              <a:rPr lang="en-US"/>
              <a:t>– each processor performs all tasks</a:t>
            </a:r>
            <a:endParaRPr/>
          </a:p>
          <a:p>
            <a:pPr indent="-342900" lvl="2" marL="1200150" rtl="0" algn="l">
              <a:spcBef>
                <a:spcPts val="630"/>
              </a:spcBef>
              <a:spcAft>
                <a:spcPts val="0"/>
              </a:spcAft>
              <a:buSzPts val="1350"/>
              <a:buFont typeface="Arimo"/>
              <a:buNone/>
            </a:pPr>
            <a:r>
              <a:t/>
            </a:r>
            <a:endParaRPr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4294967295" type="title"/>
          </p:nvPr>
        </p:nvSpPr>
        <p:spPr>
          <a:xfrm>
            <a:off x="939800" y="133350"/>
            <a:ext cx="8229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Symmetric Multiprocessing Architecture</a:t>
            </a:r>
            <a:endParaRPr/>
          </a:p>
        </p:txBody>
      </p:sp>
      <p:pic>
        <p:nvPicPr>
          <p:cNvPr id="263" name="Google Shape;2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938" y="1822450"/>
            <a:ext cx="5051425" cy="3824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457200" y="204788"/>
            <a:ext cx="80708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Dual-Core Design</a:t>
            </a:r>
            <a:endParaRPr/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854075" y="1108076"/>
            <a:ext cx="6921313" cy="1216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Multi-chip and </a:t>
            </a:r>
            <a:r>
              <a:rPr b="1" lang="en-US" sz="18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multicore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Systems containing all  chips</a:t>
            </a:r>
            <a:endParaRPr b="1" sz="1800">
              <a:solidFill>
                <a:srgbClr val="3366FF"/>
              </a:solidFill>
            </a:endParaRPr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 sz="1800"/>
              <a:t>Chassis containing multiple separate systems</a:t>
            </a:r>
            <a:endParaRPr/>
          </a:p>
          <a:p>
            <a:pPr indent="-118109" lvl="1" marL="742950" rtl="0" algn="l">
              <a:spcBef>
                <a:spcPts val="840"/>
              </a:spcBef>
              <a:spcAft>
                <a:spcPts val="0"/>
              </a:spcAft>
              <a:buSzPts val="2640"/>
              <a:buNone/>
            </a:pPr>
            <a:r>
              <a:t/>
            </a:r>
            <a:endParaRPr/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1056" y="2388259"/>
            <a:ext cx="4039281" cy="3601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923925" y="84138"/>
            <a:ext cx="80359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Non-Uniform Memory Access System</a:t>
            </a:r>
            <a:endParaRPr/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482725"/>
            <a:ext cx="4440238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idx="4294967295" type="title"/>
          </p:nvPr>
        </p:nvSpPr>
        <p:spPr>
          <a:xfrm>
            <a:off x="457200" y="211138"/>
            <a:ext cx="8034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Clustered Systems</a:t>
            </a:r>
            <a:endParaRPr/>
          </a:p>
        </p:txBody>
      </p:sp>
      <p:sp>
        <p:nvSpPr>
          <p:cNvPr id="282" name="Google Shape;282;p36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Like multiprocessor systems, but multiple systems working together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Usually sharing storage via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storage-area network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SAN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Provides 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high-availability</a:t>
            </a:r>
            <a:r>
              <a:rPr b="1" lang="en-US"/>
              <a:t> </a:t>
            </a:r>
            <a:r>
              <a:rPr lang="en-US"/>
              <a:t>service which survives failures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Asymmetric clustering </a:t>
            </a:r>
            <a:r>
              <a:rPr lang="en-US"/>
              <a:t>has one machine in hot-standby mode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Symmetric clustering </a:t>
            </a:r>
            <a:r>
              <a:rPr lang="en-US"/>
              <a:t>has multiple nodes running applications, monitoring each other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Some clusters are for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high-performance computing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HPC</a:t>
            </a:r>
            <a:r>
              <a:rPr lang="en-US"/>
              <a:t>)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Applications must be written to use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parallelization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Some have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distributed lock manager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DLM</a:t>
            </a:r>
            <a:r>
              <a:rPr lang="en-US"/>
              <a:t>) to avoid conflicting operations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idx="4294967295" type="title"/>
          </p:nvPr>
        </p:nvSpPr>
        <p:spPr>
          <a:xfrm>
            <a:off x="457200" y="207963"/>
            <a:ext cx="80613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Clustered Systems</a:t>
            </a:r>
            <a:endParaRPr/>
          </a:p>
        </p:txBody>
      </p:sp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7275" y="2058988"/>
            <a:ext cx="5148263" cy="26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457200" y="222250"/>
            <a:ext cx="8015288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 Motherboard</a:t>
            </a:r>
            <a:endParaRPr/>
          </a:p>
        </p:txBody>
      </p:sp>
      <p:pic>
        <p:nvPicPr>
          <p:cNvPr id="294" name="Google Shape;294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738" y="1046163"/>
            <a:ext cx="6867525" cy="534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idx="4294967295" type="title"/>
          </p:nvPr>
        </p:nvSpPr>
        <p:spPr>
          <a:xfrm>
            <a:off x="1020763" y="212725"/>
            <a:ext cx="755332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 Memory Access Structure</a:t>
            </a:r>
            <a:endParaRPr/>
          </a:p>
        </p:txBody>
      </p:sp>
      <p:sp>
        <p:nvSpPr>
          <p:cNvPr id="300" name="Google Shape;300;p39"/>
          <p:cNvSpPr txBox="1"/>
          <p:nvPr>
            <p:ph idx="4294967295" type="body"/>
          </p:nvPr>
        </p:nvSpPr>
        <p:spPr>
          <a:xfrm>
            <a:off x="806450" y="1233488"/>
            <a:ext cx="6813550" cy="4056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Used for high-speed I/O devices able to transmit information at close to memory speeds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Device controller transfers blocks of data from buffer storage directly to main memory without CPU intervention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Only one interrupt is generated per block, rather than the one interrupt per byte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4294967295" type="body"/>
          </p:nvPr>
        </p:nvSpPr>
        <p:spPr>
          <a:xfrm>
            <a:off x="1241612" y="2913631"/>
            <a:ext cx="6660776" cy="1030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Operating-System Operations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idx="4294967295" type="title"/>
          </p:nvPr>
        </p:nvSpPr>
        <p:spPr>
          <a:xfrm>
            <a:off x="895350" y="195263"/>
            <a:ext cx="76708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Operating-System Operations</a:t>
            </a:r>
            <a:endParaRPr/>
          </a:p>
        </p:txBody>
      </p:sp>
      <p:sp>
        <p:nvSpPr>
          <p:cNvPr id="311" name="Google Shape;311;p41"/>
          <p:cNvSpPr txBox="1"/>
          <p:nvPr>
            <p:ph idx="4294967295" type="body"/>
          </p:nvPr>
        </p:nvSpPr>
        <p:spPr>
          <a:xfrm>
            <a:off x="838200" y="1154113"/>
            <a:ext cx="7670800" cy="493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Bootstrap program – simple code to initialize the system, load the kernel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Kernel loads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Starts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system daemons </a:t>
            </a:r>
            <a:r>
              <a:rPr lang="en-US"/>
              <a:t>(services provided outside of the kernel)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Kernel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interrupt driven </a:t>
            </a:r>
            <a:r>
              <a:rPr lang="en-US"/>
              <a:t>(hardware and software)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Hardware interrupt by one of the devices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Software interrupt 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exception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or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trap</a:t>
            </a:r>
            <a:r>
              <a:rPr lang="en-US"/>
              <a:t>):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Software error (e.g., division by zero)</a:t>
            </a:r>
            <a:endParaRPr b="1">
              <a:solidFill>
                <a:srgbClr val="3366FF"/>
              </a:solidFill>
            </a:endParaRPr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Request for operating system service –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system call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Other process problems include infinite loop, processes modifying each other or the operating system</a:t>
            </a:r>
            <a:endParaRPr/>
          </a:p>
          <a:p>
            <a:pPr indent="-160019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>
            <p:ph idx="4294967295" type="title"/>
          </p:nvPr>
        </p:nvSpPr>
        <p:spPr>
          <a:xfrm>
            <a:off x="1069975" y="204788"/>
            <a:ext cx="76168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Multiprogramming (Batch system)</a:t>
            </a:r>
            <a:endParaRPr/>
          </a:p>
        </p:txBody>
      </p:sp>
      <p:sp>
        <p:nvSpPr>
          <p:cNvPr id="317" name="Google Shape;317;p42"/>
          <p:cNvSpPr txBox="1"/>
          <p:nvPr>
            <p:ph idx="4294967295" type="body"/>
          </p:nvPr>
        </p:nvSpPr>
        <p:spPr>
          <a:xfrm>
            <a:off x="827088" y="835025"/>
            <a:ext cx="6337387" cy="5193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Single user cannot always keep CPU and I/O devices busy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Multiprogramming organizes jobs (code and data) so CPU always has one to execute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A subset of total jobs in system is kept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One job selected and run via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job scheduling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When job has to wait (for I/O for example), OS switches to another job</a:t>
            </a:r>
            <a:endParaRPr/>
          </a:p>
          <a:p>
            <a:pPr indent="-229869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880"/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3"/>
          <p:cNvSpPr txBox="1"/>
          <p:nvPr>
            <p:ph idx="4294967295" type="title"/>
          </p:nvPr>
        </p:nvSpPr>
        <p:spPr>
          <a:xfrm>
            <a:off x="1069975" y="204788"/>
            <a:ext cx="76168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Multitasking (Timesharing)</a:t>
            </a:r>
            <a:endParaRPr/>
          </a:p>
        </p:txBody>
      </p:sp>
      <p:sp>
        <p:nvSpPr>
          <p:cNvPr id="323" name="Google Shape;323;p43"/>
          <p:cNvSpPr txBox="1"/>
          <p:nvPr>
            <p:ph idx="4294967295" type="body"/>
          </p:nvPr>
        </p:nvSpPr>
        <p:spPr>
          <a:xfrm>
            <a:off x="827088" y="835026"/>
            <a:ext cx="6207218" cy="4872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Font typeface="Arial"/>
              <a:buNone/>
            </a:pPr>
            <a:r>
              <a:t/>
            </a:r>
            <a:endParaRPr sz="1600"/>
          </a:p>
          <a:p>
            <a:pPr indent="-229869" lvl="1" marL="74295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880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760"/>
              <a:buChar char="▪"/>
            </a:pPr>
            <a:r>
              <a:rPr lang="en-US" sz="1600"/>
              <a:t>A logical extension of Batch systems– the CPU switches jobs so frequently that users can interact with each job while it is running, creating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interactive</a:t>
            </a:r>
            <a:r>
              <a:rPr lang="en-US" sz="1600"/>
              <a:t> computing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Response time </a:t>
            </a:r>
            <a:r>
              <a:rPr lang="en-US" sz="1600"/>
              <a:t>should be &lt; 1 second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Each user has at least one program executing in memory 🢡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If several jobs ready to run at the same time 🢡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CPU scheduling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If processes don’t fit in memory,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swapping</a:t>
            </a:r>
            <a:r>
              <a:rPr lang="en-US" sz="1600"/>
              <a:t> moves them in and out to run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Virtual memory </a:t>
            </a:r>
            <a:r>
              <a:rPr lang="en-US" sz="1600"/>
              <a:t>allows execution of processes not completely in memory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/>
          <p:nvPr>
            <p:ph idx="4294967295" type="title"/>
          </p:nvPr>
        </p:nvSpPr>
        <p:spPr>
          <a:xfrm>
            <a:off x="1033463" y="19843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Memory Layout for Multiprogrammed System</a:t>
            </a:r>
            <a:endParaRPr/>
          </a:p>
        </p:txBody>
      </p:sp>
      <p:pic>
        <p:nvPicPr>
          <p:cNvPr id="329" name="Google Shape;32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5488" y="1327603"/>
            <a:ext cx="2270125" cy="3589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5"/>
          <p:cNvSpPr txBox="1"/>
          <p:nvPr>
            <p:ph idx="4294967295" type="title"/>
          </p:nvPr>
        </p:nvSpPr>
        <p:spPr>
          <a:xfrm>
            <a:off x="1179513" y="198438"/>
            <a:ext cx="779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Dual-mode Operation</a:t>
            </a:r>
            <a:endParaRPr/>
          </a:p>
        </p:txBody>
      </p:sp>
      <p:sp>
        <p:nvSpPr>
          <p:cNvPr id="335" name="Google Shape;335;p45"/>
          <p:cNvSpPr txBox="1"/>
          <p:nvPr>
            <p:ph idx="4294967295" type="body"/>
          </p:nvPr>
        </p:nvSpPr>
        <p:spPr>
          <a:xfrm>
            <a:off x="806451" y="1233488"/>
            <a:ext cx="7011168" cy="4624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Dual-mode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operation allows OS to protect itself and other system components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User mode </a:t>
            </a:r>
            <a:r>
              <a:rPr lang="en-US"/>
              <a:t>and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kernel mode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Mode bit </a:t>
            </a:r>
            <a:r>
              <a:rPr lang="en-US"/>
              <a:t>provided by hardware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Provides ability to distinguish when system is running user code or kernel code.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When a user is running 🢡 mode bit is “user”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When kernel code is executing 🢡 mode bit is “kernel”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How do we guarantee that user does not explicitly set the mode bit to “kernel”?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System call changes mode to kernel, return from call resets it to user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Some instructions designated as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privileged</a:t>
            </a:r>
            <a:r>
              <a:rPr lang="en-US"/>
              <a:t>, only executable in kernel mode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"/>
          <p:cNvSpPr txBox="1"/>
          <p:nvPr>
            <p:ph idx="4294967295" type="title"/>
          </p:nvPr>
        </p:nvSpPr>
        <p:spPr>
          <a:xfrm>
            <a:off x="882650" y="136525"/>
            <a:ext cx="7924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from User to Kernel Mode</a:t>
            </a:r>
            <a:endParaRPr/>
          </a:p>
        </p:txBody>
      </p:sp>
      <p:pic>
        <p:nvPicPr>
          <p:cNvPr id="341" name="Google Shape;34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512" y="1305890"/>
            <a:ext cx="7053262" cy="209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idx="4294967295" type="title"/>
          </p:nvPr>
        </p:nvSpPr>
        <p:spPr>
          <a:xfrm>
            <a:off x="882650" y="136525"/>
            <a:ext cx="7924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Timer</a:t>
            </a:r>
            <a:endParaRPr/>
          </a:p>
        </p:txBody>
      </p:sp>
      <p:sp>
        <p:nvSpPr>
          <p:cNvPr id="347" name="Google Shape;347;p47"/>
          <p:cNvSpPr txBox="1"/>
          <p:nvPr>
            <p:ph idx="4294967295" type="body"/>
          </p:nvPr>
        </p:nvSpPr>
        <p:spPr>
          <a:xfrm>
            <a:off x="793750" y="1060450"/>
            <a:ext cx="7781925" cy="281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Timer to prevent infinite loop (or process hogging resources)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Timer is set to interrupt the computer after some time period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Keep a counter that is decremented by the physical clock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Operating system set the counter (privileged instruction)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When counter zero generate an interrupt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Set up before scheduling process to regain control or terminate program that exceeds allotted time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3" name="Google Shape;353;p4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B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48"/>
          <p:cNvSpPr txBox="1"/>
          <p:nvPr>
            <p:ph type="title"/>
          </p:nvPr>
        </p:nvSpPr>
        <p:spPr>
          <a:xfrm>
            <a:off x="469900" y="2736850"/>
            <a:ext cx="826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Data Structure</a:t>
            </a:r>
            <a:endParaRPr/>
          </a:p>
        </p:txBody>
      </p:sp>
      <p:sp>
        <p:nvSpPr>
          <p:cNvPr id="355" name="Google Shape;355;p48"/>
          <p:cNvSpPr/>
          <p:nvPr/>
        </p:nvSpPr>
        <p:spPr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 txBox="1"/>
          <p:nvPr>
            <p:ph type="title"/>
          </p:nvPr>
        </p:nvSpPr>
        <p:spPr>
          <a:xfrm>
            <a:off x="457200" y="22066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Data Structures</a:t>
            </a:r>
            <a:endParaRPr/>
          </a:p>
        </p:txBody>
      </p:sp>
      <p:sp>
        <p:nvSpPr>
          <p:cNvPr id="361" name="Google Shape;361;p49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Many similar to standard programming data structures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i="1" lang="en-US"/>
              <a:t>Singly linked list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i="1" lang="en-US"/>
              <a:t>Doubly linked list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i="1" lang="en-US"/>
              <a:t>Circular linked list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1_13.pdf" id="362" name="Google Shape;3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150" y="2068513"/>
            <a:ext cx="6932613" cy="779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_14.pdf" id="363" name="Google Shape;36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7463" y="3632200"/>
            <a:ext cx="7026275" cy="94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_15.pdf" id="364" name="Google Shape;36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1900" y="5099050"/>
            <a:ext cx="684212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"/>
          <p:cNvSpPr txBox="1"/>
          <p:nvPr>
            <p:ph type="title"/>
          </p:nvPr>
        </p:nvSpPr>
        <p:spPr>
          <a:xfrm>
            <a:off x="457200" y="2174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Data Structures</a:t>
            </a:r>
            <a:endParaRPr/>
          </a:p>
        </p:txBody>
      </p:sp>
      <p:sp>
        <p:nvSpPr>
          <p:cNvPr id="370" name="Google Shape;370;p50"/>
          <p:cNvSpPr txBox="1"/>
          <p:nvPr>
            <p:ph idx="1" type="body"/>
          </p:nvPr>
        </p:nvSpPr>
        <p:spPr>
          <a:xfrm>
            <a:off x="806450" y="1233488"/>
            <a:ext cx="5468938" cy="1604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 sz="1800">
                <a:solidFill>
                  <a:srgbClr val="3366FF"/>
                </a:solidFill>
              </a:rPr>
              <a:t>Binary search tree</a:t>
            </a:r>
            <a:br>
              <a:rPr lang="en-US" sz="1800"/>
            </a:br>
            <a:r>
              <a:rPr lang="en-US" sz="1800"/>
              <a:t>left &lt;= right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 sz="1800"/>
              <a:t>Search performance is </a:t>
            </a:r>
            <a:r>
              <a:rPr i="1" lang="en-US" sz="1800"/>
              <a:t>O(n)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 sz="1800">
                <a:solidFill>
                  <a:srgbClr val="3366FF"/>
                </a:solidFill>
              </a:rPr>
              <a:t>Balanced binary search tree </a:t>
            </a:r>
            <a:r>
              <a:rPr lang="en-US" sz="1800"/>
              <a:t>is </a:t>
            </a:r>
            <a:r>
              <a:rPr i="1" lang="en-US" sz="1800"/>
              <a:t>O(lg n)</a:t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SzPts val="3080"/>
              <a:buFont typeface="Arial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</p:txBody>
      </p:sp>
      <p:pic>
        <p:nvPicPr>
          <p:cNvPr descr="1_16.pdf" id="371" name="Google Shape;3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5163" y="2979738"/>
            <a:ext cx="2755900" cy="215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1"/>
          <p:cNvSpPr txBox="1"/>
          <p:nvPr>
            <p:ph type="title"/>
          </p:nvPr>
        </p:nvSpPr>
        <p:spPr>
          <a:xfrm>
            <a:off x="457200" y="2174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Data Structures</a:t>
            </a:r>
            <a:endParaRPr/>
          </a:p>
        </p:txBody>
      </p:sp>
      <p:sp>
        <p:nvSpPr>
          <p:cNvPr id="377" name="Google Shape;377;p51"/>
          <p:cNvSpPr txBox="1"/>
          <p:nvPr>
            <p:ph idx="1" type="body"/>
          </p:nvPr>
        </p:nvSpPr>
        <p:spPr>
          <a:xfrm>
            <a:off x="806450" y="1233488"/>
            <a:ext cx="7726363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b="1" lang="en-US" sz="1800">
                <a:solidFill>
                  <a:srgbClr val="3366FF"/>
                </a:solidFill>
              </a:rPr>
              <a:t>Hash function </a:t>
            </a:r>
            <a:r>
              <a:rPr lang="en-US" sz="1800"/>
              <a:t>can create a</a:t>
            </a:r>
            <a:r>
              <a:rPr b="1" lang="en-US" sz="1800">
                <a:solidFill>
                  <a:srgbClr val="3366FF"/>
                </a:solidFill>
              </a:rPr>
              <a:t> hash map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Font typeface="Arial"/>
              <a:buNone/>
            </a:pPr>
            <a:r>
              <a:t/>
            </a:r>
            <a:endParaRPr b="1" i="1" sz="1800">
              <a:solidFill>
                <a:srgbClr val="3366FF"/>
              </a:solidFill>
            </a:endParaRPr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 sz="1800">
                <a:solidFill>
                  <a:srgbClr val="3366FF"/>
                </a:solidFill>
              </a:rPr>
              <a:t>Bitmap</a:t>
            </a:r>
            <a:r>
              <a:rPr lang="en-US" sz="1800"/>
              <a:t> – string of </a:t>
            </a:r>
            <a:r>
              <a:rPr i="1" lang="en-US" sz="1800"/>
              <a:t>n</a:t>
            </a:r>
            <a:r>
              <a:rPr lang="en-US" sz="1800"/>
              <a:t> binary digits representing the status of </a:t>
            </a:r>
            <a:r>
              <a:rPr i="1" lang="en-US" sz="1800"/>
              <a:t>n</a:t>
            </a:r>
            <a:r>
              <a:rPr lang="en-US" sz="1800"/>
              <a:t> items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 sz="1800"/>
              <a:t>Linux data structures defined in </a:t>
            </a:r>
            <a:r>
              <a:rPr b="1" i="1" lang="en-US" sz="1800"/>
              <a:t>include</a:t>
            </a:r>
            <a:r>
              <a:rPr lang="en-US" sz="1800"/>
              <a:t> files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&lt;linux/list.h&gt;, &lt;linux/kfifo.h&gt;, &lt;linux/rbtree.h&gt;</a:t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SzPts val="3080"/>
              <a:buFont typeface="Arial"/>
              <a:buNone/>
            </a:pPr>
            <a:r>
              <a:t/>
            </a:r>
            <a:endParaRPr/>
          </a:p>
          <a:p>
            <a:pPr indent="-147320" lvl="0" marL="342900" rtl="0" algn="l">
              <a:spcBef>
                <a:spcPts val="980"/>
              </a:spcBef>
              <a:spcAft>
                <a:spcPts val="0"/>
              </a:spcAft>
              <a:buSzPts val="3080"/>
              <a:buNone/>
            </a:pPr>
            <a:r>
              <a:t/>
            </a:r>
            <a:endParaRPr/>
          </a:p>
        </p:txBody>
      </p:sp>
      <p:pic>
        <p:nvPicPr>
          <p:cNvPr descr="1_17.pdf" id="378" name="Google Shape;3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325" y="1863725"/>
            <a:ext cx="487362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idx="4294967295" type="body"/>
          </p:nvPr>
        </p:nvSpPr>
        <p:spPr>
          <a:xfrm>
            <a:off x="1446306" y="2888119"/>
            <a:ext cx="7016376" cy="1030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SzPts val="3520"/>
              <a:buNone/>
            </a:pPr>
            <a:r>
              <a:rPr b="1" lang="en-US" sz="32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Computer System Environments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4294967295" type="title"/>
          </p:nvPr>
        </p:nvSpPr>
        <p:spPr>
          <a:xfrm>
            <a:off x="960668" y="171450"/>
            <a:ext cx="8016875" cy="6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Computing Environments</a:t>
            </a:r>
            <a:endParaRPr/>
          </a:p>
        </p:txBody>
      </p:sp>
      <p:sp>
        <p:nvSpPr>
          <p:cNvPr id="389" name="Google Shape;389;p53"/>
          <p:cNvSpPr txBox="1"/>
          <p:nvPr>
            <p:ph idx="4294967295" type="body"/>
          </p:nvPr>
        </p:nvSpPr>
        <p:spPr>
          <a:xfrm>
            <a:off x="819151" y="1296988"/>
            <a:ext cx="6506936" cy="4145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Traditional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Mobile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Client Server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Peer-to-Peer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Cloud computing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Real-time Embedded</a:t>
            </a:r>
            <a:endParaRPr/>
          </a:p>
          <a:p>
            <a:pPr indent="-217170" lvl="0" marL="34290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4"/>
          <p:cNvSpPr txBox="1"/>
          <p:nvPr>
            <p:ph idx="4294967295" type="title"/>
          </p:nvPr>
        </p:nvSpPr>
        <p:spPr>
          <a:xfrm>
            <a:off x="960668" y="171450"/>
            <a:ext cx="8016875" cy="62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Traditional</a:t>
            </a:r>
            <a:endParaRPr/>
          </a:p>
        </p:txBody>
      </p:sp>
      <p:sp>
        <p:nvSpPr>
          <p:cNvPr id="395" name="Google Shape;395;p54"/>
          <p:cNvSpPr txBox="1"/>
          <p:nvPr>
            <p:ph idx="4294967295" type="body"/>
          </p:nvPr>
        </p:nvSpPr>
        <p:spPr>
          <a:xfrm>
            <a:off x="819151" y="1296988"/>
            <a:ext cx="6506936" cy="4145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Stand-alone general-purpose machines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But blurred as most systems interconnect with others (i.e., the Internet)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Portals</a:t>
            </a:r>
            <a:r>
              <a:rPr lang="en-US"/>
              <a:t> provide web access to internal systems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Network computers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thin clients</a:t>
            </a:r>
            <a:r>
              <a:rPr lang="en-US"/>
              <a:t>) are like Web terminals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Mobile computers interconnect via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wireless networks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Networking becoming ubiquitous – even home systems use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firewalls</a:t>
            </a:r>
            <a:r>
              <a:rPr lang="en-US"/>
              <a:t> to protect home computers from Internet attacks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"/>
          <p:cNvSpPr txBox="1"/>
          <p:nvPr>
            <p:ph idx="4294967295" type="title"/>
          </p:nvPr>
        </p:nvSpPr>
        <p:spPr>
          <a:xfrm>
            <a:off x="476250" y="217488"/>
            <a:ext cx="85375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Mobile</a:t>
            </a:r>
            <a:endParaRPr/>
          </a:p>
        </p:txBody>
      </p:sp>
      <p:sp>
        <p:nvSpPr>
          <p:cNvPr id="401" name="Google Shape;401;p55"/>
          <p:cNvSpPr txBox="1"/>
          <p:nvPr>
            <p:ph idx="4294967295" type="body"/>
          </p:nvPr>
        </p:nvSpPr>
        <p:spPr>
          <a:xfrm>
            <a:off x="811213" y="1209674"/>
            <a:ext cx="7026501" cy="4178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Handheld smartphones, tablets, etc.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What is the functional difference between them and a “traditional” laptop?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Extra feature – more OS features (GPS, gyroscope)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Allows new types of apps like </a:t>
            </a:r>
            <a:r>
              <a:rPr b="1" i="1" lang="en-US"/>
              <a:t>augmented reality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Use IEEE 802.11 wireless, or cellular data networks for connectivity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Leaders are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Apple iOS </a:t>
            </a:r>
            <a:r>
              <a:rPr lang="en-US"/>
              <a:t>and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Google Android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6"/>
          <p:cNvSpPr txBox="1"/>
          <p:nvPr>
            <p:ph idx="4294967295" type="title"/>
          </p:nvPr>
        </p:nvSpPr>
        <p:spPr>
          <a:xfrm>
            <a:off x="1296988" y="207963"/>
            <a:ext cx="71929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Client Server</a:t>
            </a:r>
            <a:endParaRPr/>
          </a:p>
        </p:txBody>
      </p:sp>
      <p:sp>
        <p:nvSpPr>
          <p:cNvPr id="407" name="Google Shape;407;p56"/>
          <p:cNvSpPr/>
          <p:nvPr/>
        </p:nvSpPr>
        <p:spPr>
          <a:xfrm>
            <a:off x="755650" y="1166813"/>
            <a:ext cx="7734300" cy="46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Client-Server Computing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Dumb terminals supplanted by smart PCs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systems now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responding to requests generated by </a:t>
            </a: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clients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Compute-server system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provides an interface to client to request services (i.e., database)</a:t>
            </a:r>
            <a:endParaRPr/>
          </a:p>
          <a:p>
            <a:pPr indent="-228600" lvl="2" marL="1085850" marR="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1" i="0" lang="en-US" sz="1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File-server system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provides interface for clients to store and retrieve files</a:t>
            </a:r>
            <a:endParaRPr/>
          </a:p>
        </p:txBody>
      </p:sp>
      <p:pic>
        <p:nvPicPr>
          <p:cNvPr descr="1_18.pdf" id="408" name="Google Shape;40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213" y="3805238"/>
            <a:ext cx="4610100" cy="200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idx="4294967295" type="title"/>
          </p:nvPr>
        </p:nvSpPr>
        <p:spPr>
          <a:xfrm>
            <a:off x="1152525" y="212725"/>
            <a:ext cx="7394575" cy="5762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Peer-to-Peer</a:t>
            </a:r>
            <a:endParaRPr/>
          </a:p>
        </p:txBody>
      </p:sp>
      <p:sp>
        <p:nvSpPr>
          <p:cNvPr id="414" name="Google Shape;414;p57"/>
          <p:cNvSpPr txBox="1"/>
          <p:nvPr>
            <p:ph idx="4294967295" type="body"/>
          </p:nvPr>
        </p:nvSpPr>
        <p:spPr>
          <a:xfrm>
            <a:off x="806450" y="1233488"/>
            <a:ext cx="505777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Another model of distributed system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P2P does not distinguish clients and servers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Instead all nodes are considered peers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May each act as client, server or both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Node must join P2P network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Registers its service with central lookup service on network, or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Broadcast request for service and respond to requests for service via </a:t>
            </a:r>
            <a:r>
              <a:rPr b="1" i="1" lang="en-US"/>
              <a:t>discovery protocol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Examples include</a:t>
            </a:r>
            <a:r>
              <a:rPr i="1" lang="en-US"/>
              <a:t> </a:t>
            </a:r>
            <a:r>
              <a:rPr lang="en-US"/>
              <a:t>Napster</a:t>
            </a:r>
            <a:r>
              <a:rPr i="1" lang="en-US"/>
              <a:t> </a:t>
            </a:r>
            <a:r>
              <a:rPr lang="en-US"/>
              <a:t>and</a:t>
            </a:r>
            <a:r>
              <a:rPr i="1" lang="en-US"/>
              <a:t> </a:t>
            </a:r>
            <a:r>
              <a:rPr lang="en-US"/>
              <a:t>Gnutella</a:t>
            </a:r>
            <a:r>
              <a:rPr i="1" lang="en-US"/>
              <a:t>,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Voice over IP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VoIP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such as Skype </a:t>
            </a:r>
            <a:endParaRPr/>
          </a:p>
        </p:txBody>
      </p:sp>
      <p:pic>
        <p:nvPicPr>
          <p:cNvPr descr="1_19.pdf" id="415" name="Google Shape;4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9488" y="1984375"/>
            <a:ext cx="2668587" cy="202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/>
          <p:nvPr>
            <p:ph idx="4294967295" type="title"/>
          </p:nvPr>
        </p:nvSpPr>
        <p:spPr>
          <a:xfrm>
            <a:off x="955675" y="198438"/>
            <a:ext cx="81232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Cloud Computing</a:t>
            </a:r>
            <a:endParaRPr/>
          </a:p>
        </p:txBody>
      </p:sp>
      <p:sp>
        <p:nvSpPr>
          <p:cNvPr id="421" name="Google Shape;421;p58"/>
          <p:cNvSpPr txBox="1"/>
          <p:nvPr>
            <p:ph idx="4294967295" type="body"/>
          </p:nvPr>
        </p:nvSpPr>
        <p:spPr>
          <a:xfrm>
            <a:off x="806451" y="1060450"/>
            <a:ext cx="6347976" cy="480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Delivers computing, storage, even apps as a service across a network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Logical extension of virtualization because it uses virtualization as the base for it functionality.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Amazon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r>
              <a:rPr lang="en-US"/>
              <a:t>  has thousands of servers, millions of virtual machines, petabytes of storage available across the Internet, pay based on usage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9"/>
          <p:cNvSpPr txBox="1"/>
          <p:nvPr>
            <p:ph idx="4294967295" type="title"/>
          </p:nvPr>
        </p:nvSpPr>
        <p:spPr>
          <a:xfrm>
            <a:off x="955675" y="198438"/>
            <a:ext cx="81232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Cloud Computing (Cont.)</a:t>
            </a:r>
            <a:endParaRPr/>
          </a:p>
        </p:txBody>
      </p:sp>
      <p:sp>
        <p:nvSpPr>
          <p:cNvPr id="427" name="Google Shape;427;p59"/>
          <p:cNvSpPr txBox="1"/>
          <p:nvPr>
            <p:ph idx="4294967295" type="body"/>
          </p:nvPr>
        </p:nvSpPr>
        <p:spPr>
          <a:xfrm>
            <a:off x="806450" y="1060450"/>
            <a:ext cx="7712075" cy="5103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Many types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Public cloud </a:t>
            </a:r>
            <a:r>
              <a:rPr lang="en-US"/>
              <a:t>– available via Internet to anyone willing to pay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Private cloud </a:t>
            </a:r>
            <a:r>
              <a:rPr lang="en-US"/>
              <a:t>– run by a company for the company’s own use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Hybrid cloud </a:t>
            </a:r>
            <a:r>
              <a:rPr lang="en-US"/>
              <a:t>– includes both public and private cloud components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Software as a Service 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r>
              <a:rPr lang="en-US"/>
              <a:t>) – one or more applications available via the Internet (i.e., word processor)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Platform as a Service 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PaaS</a:t>
            </a:r>
            <a:r>
              <a:rPr lang="en-US"/>
              <a:t>) – software stack ready for application use via the Internet (i.e., a database server)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Infrastructure as a Service 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IaaS</a:t>
            </a:r>
            <a:r>
              <a:rPr lang="en-US"/>
              <a:t>) – servers or storage available over Internet (i.e., storage available for backup use)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"/>
          <p:cNvSpPr txBox="1"/>
          <p:nvPr>
            <p:ph idx="4294967295" type="body"/>
          </p:nvPr>
        </p:nvSpPr>
        <p:spPr>
          <a:xfrm>
            <a:off x="801688" y="1092200"/>
            <a:ext cx="76454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Cloud computing environments composed of traditional OSes, plus VMMs, plus cloud management tools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Internet connectivity requires security like firewalls</a:t>
            </a:r>
            <a:endParaRPr sz="800"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Load balancers spread traffic across multiple applications</a:t>
            </a:r>
            <a:endParaRPr/>
          </a:p>
        </p:txBody>
      </p:sp>
      <p:pic>
        <p:nvPicPr>
          <p:cNvPr descr="1_21.pdf" id="433" name="Google Shape;43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288" y="2800350"/>
            <a:ext cx="4119562" cy="32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0"/>
          <p:cNvSpPr txBox="1"/>
          <p:nvPr/>
        </p:nvSpPr>
        <p:spPr>
          <a:xfrm>
            <a:off x="1020762" y="220663"/>
            <a:ext cx="81232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Cloud Computing (cont.)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1"/>
          <p:cNvSpPr txBox="1"/>
          <p:nvPr>
            <p:ph idx="4294967295" type="title"/>
          </p:nvPr>
        </p:nvSpPr>
        <p:spPr>
          <a:xfrm>
            <a:off x="1058863" y="73025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Real-Time Embedded Systems</a:t>
            </a:r>
            <a:endParaRPr/>
          </a:p>
        </p:txBody>
      </p:sp>
      <p:sp>
        <p:nvSpPr>
          <p:cNvPr id="440" name="Google Shape;440;p61"/>
          <p:cNvSpPr txBox="1"/>
          <p:nvPr>
            <p:ph idx="4294967295" type="body"/>
          </p:nvPr>
        </p:nvSpPr>
        <p:spPr>
          <a:xfrm>
            <a:off x="820738" y="1154113"/>
            <a:ext cx="7688262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Real-time embedded systems most prevalent form of computers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Vary considerable, special purpose, limited purpose OS, 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real-time OS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Use expanding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Many other special computing environments as well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Some have OSes, some perform tasks without an OS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Real-time OS has well-defined fixed time constraints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Processing </a:t>
            </a:r>
            <a:r>
              <a:rPr b="1" i="1" lang="en-US"/>
              <a:t>must</a:t>
            </a:r>
            <a:r>
              <a:rPr lang="en-US"/>
              <a:t> be done within constraint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/>
              <a:t>Correct operation only if constraints met</a:t>
            </a:r>
            <a:endParaRPr/>
          </a:p>
          <a:p>
            <a:pPr indent="-160019" lvl="1" marL="742950" rtl="0" algn="l">
              <a:spcBef>
                <a:spcPts val="630"/>
              </a:spcBef>
              <a:spcAft>
                <a:spcPts val="0"/>
              </a:spcAft>
              <a:buSzPts val="19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/>
          <p:nvPr>
            <p:ph idx="4294967295" type="title"/>
          </p:nvPr>
        </p:nvSpPr>
        <p:spPr>
          <a:xfrm>
            <a:off x="982663" y="2016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Free and Open-Source Operating Systems</a:t>
            </a:r>
            <a:endParaRPr/>
          </a:p>
        </p:txBody>
      </p:sp>
      <p:sp>
        <p:nvSpPr>
          <p:cNvPr id="446" name="Google Shape;446;p62"/>
          <p:cNvSpPr txBox="1"/>
          <p:nvPr>
            <p:ph idx="4294967295" type="body"/>
          </p:nvPr>
        </p:nvSpPr>
        <p:spPr>
          <a:xfrm>
            <a:off x="830263" y="961113"/>
            <a:ext cx="7704137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Operating systems made available in source-code format rather than just binary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closed-source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lang="en-US"/>
              <a:t>and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proprietary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/>
              <a:t>Counter to the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copy protection </a:t>
            </a:r>
            <a:r>
              <a:rPr lang="en-US">
                <a:solidFill>
                  <a:srgbClr val="000000"/>
                </a:solidFill>
              </a:rPr>
              <a:t>and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Digital Rights Management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DRM</a:t>
            </a:r>
            <a:r>
              <a:rPr lang="en-US"/>
              <a:t>) </a:t>
            </a:r>
            <a:r>
              <a:rPr lang="en-US">
                <a:solidFill>
                  <a:srgbClr val="000000"/>
                </a:solidFill>
              </a:rPr>
              <a:t>movement</a:t>
            </a:r>
            <a:endParaRPr sz="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>
                <a:solidFill>
                  <a:srgbClr val="000000"/>
                </a:solidFill>
              </a:rPr>
              <a:t>Started by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Free Software Foundation </a:t>
            </a:r>
            <a:r>
              <a:rPr lang="en-US">
                <a:solidFill>
                  <a:srgbClr val="000000"/>
                </a:solidFill>
              </a:rPr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FSF</a:t>
            </a:r>
            <a:r>
              <a:rPr lang="en-US"/>
              <a:t>)</a:t>
            </a:r>
            <a:r>
              <a:rPr lang="en-US">
                <a:solidFill>
                  <a:srgbClr val="000000"/>
                </a:solidFill>
              </a:rPr>
              <a:t>, which has “copyleft”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GNU Public License </a:t>
            </a:r>
            <a:r>
              <a:rPr lang="en-US"/>
              <a:t>(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GPL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760"/>
              <a:buChar char="•"/>
            </a:pPr>
            <a:r>
              <a:rPr lang="en-US" sz="1600"/>
              <a:t>Free software and open-source software are two different ideas championed by different groups of people</a:t>
            </a:r>
            <a:endParaRPr/>
          </a:p>
          <a:p>
            <a:pPr indent="-228600" lvl="2" marL="1085850" rtl="0" algn="l">
              <a:spcBef>
                <a:spcPts val="560"/>
              </a:spcBef>
              <a:spcAft>
                <a:spcPts val="0"/>
              </a:spcAft>
              <a:buSzPts val="1200"/>
              <a:buChar char="4"/>
            </a:pPr>
            <a:r>
              <a:rPr b="1" lang="en-US" sz="1600">
                <a:solidFill>
                  <a:srgbClr val="663300"/>
                </a:solidFill>
              </a:rPr>
              <a:t>https://www.gnu.org/philosophy/open-source-misses-the-point.en.html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>
                <a:solidFill>
                  <a:srgbClr val="000000"/>
                </a:solidFill>
              </a:rPr>
              <a:t>Examples include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GNU/Linux </a:t>
            </a:r>
            <a:r>
              <a:rPr lang="en-US"/>
              <a:t>and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BSD UNIX </a:t>
            </a:r>
            <a:r>
              <a:rPr lang="en-US">
                <a:solidFill>
                  <a:srgbClr val="000000"/>
                </a:solidFill>
              </a:rPr>
              <a:t>(including core of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Mac</a:t>
            </a:r>
            <a:r>
              <a:rPr b="1" lang="en-US">
                <a:solidFill>
                  <a:srgbClr val="3366FF"/>
                </a:solidFill>
              </a:rPr>
              <a:t> </a:t>
            </a:r>
            <a:r>
              <a:rPr b="1" lang="en-US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OS X</a:t>
            </a:r>
            <a:r>
              <a:rPr lang="en-US">
                <a:solidFill>
                  <a:srgbClr val="000000"/>
                </a:solidFill>
              </a:rPr>
              <a:t>), and many more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980"/>
              <a:buChar char="▪"/>
            </a:pPr>
            <a:r>
              <a:rPr lang="en-US">
                <a:solidFill>
                  <a:srgbClr val="000000"/>
                </a:solidFill>
              </a:rPr>
              <a:t>Can use VMM like VMware Player (Free on Windows), Virtualbox (open source and free on many platforms - </a:t>
            </a:r>
            <a:r>
              <a:rPr lang="en-US"/>
              <a:t>http://www.virtualbox.com)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980"/>
              <a:buChar char="•"/>
            </a:pPr>
            <a:r>
              <a:rPr lang="en-US">
                <a:solidFill>
                  <a:srgbClr val="000000"/>
                </a:solidFill>
              </a:rPr>
              <a:t>Use to run guest operating systems for exploration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3"/>
          <p:cNvSpPr txBox="1"/>
          <p:nvPr>
            <p:ph idx="4294967295" type="title"/>
          </p:nvPr>
        </p:nvSpPr>
        <p:spPr>
          <a:xfrm>
            <a:off x="1033463" y="198438"/>
            <a:ext cx="75342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Study of Operating Systems</a:t>
            </a:r>
            <a:endParaRPr/>
          </a:p>
        </p:txBody>
      </p:sp>
      <p:sp>
        <p:nvSpPr>
          <p:cNvPr id="452" name="Google Shape;452;p63"/>
          <p:cNvSpPr/>
          <p:nvPr/>
        </p:nvSpPr>
        <p:spPr>
          <a:xfrm>
            <a:off x="647700" y="1222375"/>
            <a:ext cx="7920038" cy="4703763"/>
          </a:xfrm>
          <a:prstGeom prst="rect">
            <a:avLst/>
          </a:prstGeom>
          <a:solidFill>
            <a:srgbClr val="CEEBF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has never been a more interesting time to study operating systems, and it has never been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easier. The open-source movement has overtaken operating systems, causing many of them to 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made available in both source and binary (executable) format. The list of operating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systems available in both formats includes Linux, BUSD UNIX, Solaris, and part of macOS.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availability of source code allows us to study operating systems from the inside out.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Questions that we could once answer only by looking at documentation or the behavior of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operating system we can now answer by examining the code itself.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Operating systems that are no longer commercially viable have been open-sourced as well, enabling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 to study how systems operated in a time of fewer CPU, memory, and storage resources.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extensive but incomplete list of open-source operating-system projects is available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from https://curlie.org/Computers/Software/Operating_Systems/Open_Source/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addition, the rise of virtualization as a mainstream (and frequently free) computer function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makes it possible to run many operating systems on top of one core system. For example, VMware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(http://www.vmware.com) provides a free “player” for Windows on which hundreds of free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“virtual appliances” can run. Virtualbox (http://www.virtualbox.com) provides a free, open-source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virtual machine manager on many operating systems. Using such tools, students can try out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hundreds of operating systems without dedicated hardware.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advent of open-source operating systems has also made it easier to make the move from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to operating-system developer. With some knowledge, some effort, and an Internet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connection, a student can even create a new operating-system distribution. Just a few years ago,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was difficult or impossible to get access to source code. Now, such access is limited only by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much interest, time, and disk space a student has.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4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Chapter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2011-01-13T23:43:38Z</dcterms:created>
  <dc:creator>Lucent End User</dc:creator>
</cp:coreProperties>
</file>